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5c0817996fea4b0d" /><Relationship Type="http://schemas.openxmlformats.org/officeDocument/2006/relationships/extended-properties" Target="/docProps/app.xml" Id="Re520747db4fa40f0" /><Relationship Type="http://schemas.openxmlformats.org/officeDocument/2006/relationships/officeDocument" Target="/ppt/presentation.xml" Id="R530c7db78883489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accc72da8564f51"/>
  </p:sldMasterIdLst>
  <p:notesMasterIdLst>
    <p:notesMasterId xmlns:r="http://schemas.openxmlformats.org/officeDocument/2006/relationships" r:id="R2beec11697fa40a2"/>
  </p:notesMasterIdLst>
  <p:sldIdLst>
    <p:sldId xmlns:r="http://schemas.openxmlformats.org/officeDocument/2006/relationships" id="256" r:id="Rec539729800f45e7"/>
    <p:sldId xmlns:r="http://schemas.openxmlformats.org/officeDocument/2006/relationships" id="257" r:id="R3c5e9ad8e5344c84"/>
    <p:sldId xmlns:r="http://schemas.openxmlformats.org/officeDocument/2006/relationships" id="258" r:id="R96e68a1e38e640e8"/>
    <p:sldId xmlns:r="http://schemas.openxmlformats.org/officeDocument/2006/relationships" id="259" r:id="Rfc2c0c9a11a74c02"/>
    <p:sldId xmlns:r="http://schemas.openxmlformats.org/officeDocument/2006/relationships" id="260" r:id="R9da0885434a94f57"/>
    <p:sldId xmlns:r="http://schemas.openxmlformats.org/officeDocument/2006/relationships" id="261" r:id="R9fdda83c67b54ba2"/>
    <p:sldId xmlns:r="http://schemas.openxmlformats.org/officeDocument/2006/relationships" id="262" r:id="Rf860e9d4221a4812"/>
    <p:sldId xmlns:r="http://schemas.openxmlformats.org/officeDocument/2006/relationships" id="263" r:id="R420042cf9314446b"/>
    <p:sldId xmlns:r="http://schemas.openxmlformats.org/officeDocument/2006/relationships" id="264" r:id="Rf7c8836046934521"/>
    <p:sldId xmlns:r="http://schemas.openxmlformats.org/officeDocument/2006/relationships" id="265" r:id="R9b0010d54c0b47df"/>
    <p:sldId xmlns:r="http://schemas.openxmlformats.org/officeDocument/2006/relationships" id="266" r:id="R88102f0e923b40b5"/>
    <p:sldId xmlns:r="http://schemas.openxmlformats.org/officeDocument/2006/relationships" id="267" r:id="Raa22e7ccc60f4361"/>
    <p:sldId xmlns:r="http://schemas.openxmlformats.org/officeDocument/2006/relationships" id="268" r:id="Re8d7bbf09ac44fdc"/>
    <p:sldId xmlns:r="http://schemas.openxmlformats.org/officeDocument/2006/relationships" id="269" r:id="Ra9aef9aa49a84ca6"/>
    <p:sldId xmlns:r="http://schemas.openxmlformats.org/officeDocument/2006/relationships" id="270" r:id="R02796d1136784fcf"/>
    <p:sldId xmlns:r="http://schemas.openxmlformats.org/officeDocument/2006/relationships" id="271" r:id="R7378e5ec66db4a4c"/>
    <p:sldId xmlns:r="http://schemas.openxmlformats.org/officeDocument/2006/relationships" id="272" r:id="R461d8c4ac36d4e42"/>
    <p:sldId xmlns:r="http://schemas.openxmlformats.org/officeDocument/2006/relationships" id="273" r:id="Rcb476c733a934901"/>
    <p:sldId xmlns:r="http://schemas.openxmlformats.org/officeDocument/2006/relationships" id="274" r:id="Rc913f15e70c7491a"/>
  </p:sldIdLst>
  <p:sldSz cx="9144000" cy="51435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13386cfd8854d03" /><Relationship Type="http://schemas.openxmlformats.org/officeDocument/2006/relationships/slideMaster" Target="/ppt/slideMasters/slideMaster1.xml" Id="R3accc72da8564f51" /><Relationship Type="http://schemas.openxmlformats.org/officeDocument/2006/relationships/notesMaster" Target="/ppt/notesMasters/notesMaster1.xml" Id="R2beec11697fa40a2" /><Relationship Type="http://schemas.openxmlformats.org/officeDocument/2006/relationships/presProps" Target="/ppt/presProps.xml" Id="Raaf924224f9444a1" /><Relationship Type="http://schemas.openxmlformats.org/officeDocument/2006/relationships/viewProps" Target="/ppt/viewProps.xml" Id="R9aecb7bf3cc84d70" /><Relationship Type="http://schemas.openxmlformats.org/officeDocument/2006/relationships/tableStyles" Target="/ppt/tableStyles.xml" Id="R28cb0a6a69e84a7b" /><Relationship Type="http://schemas.openxmlformats.org/officeDocument/2006/relationships/slide" Target="/ppt/slides/slide1.xml" Id="Rec539729800f45e7" /><Relationship Type="http://schemas.openxmlformats.org/officeDocument/2006/relationships/slide" Target="/ppt/slides/slide2.xml" Id="R3c5e9ad8e5344c84" /><Relationship Type="http://schemas.openxmlformats.org/officeDocument/2006/relationships/slide" Target="/ppt/slides/slide3.xml" Id="R96e68a1e38e640e8" /><Relationship Type="http://schemas.openxmlformats.org/officeDocument/2006/relationships/slide" Target="/ppt/slides/slide4.xml" Id="Rfc2c0c9a11a74c02" /><Relationship Type="http://schemas.openxmlformats.org/officeDocument/2006/relationships/slide" Target="/ppt/slides/slide5.xml" Id="R9da0885434a94f57" /><Relationship Type="http://schemas.openxmlformats.org/officeDocument/2006/relationships/slide" Target="/ppt/slides/slide6.xml" Id="R9fdda83c67b54ba2" /><Relationship Type="http://schemas.openxmlformats.org/officeDocument/2006/relationships/slide" Target="/ppt/slides/slide7.xml" Id="Rf860e9d4221a4812" /><Relationship Type="http://schemas.openxmlformats.org/officeDocument/2006/relationships/slide" Target="/ppt/slides/slide8.xml" Id="R420042cf9314446b" /><Relationship Type="http://schemas.openxmlformats.org/officeDocument/2006/relationships/slide" Target="/ppt/slides/slide9.xml" Id="Rf7c8836046934521" /><Relationship Type="http://schemas.openxmlformats.org/officeDocument/2006/relationships/slide" Target="/ppt/slides/slide10.xml" Id="R9b0010d54c0b47df" /><Relationship Type="http://schemas.openxmlformats.org/officeDocument/2006/relationships/slide" Target="/ppt/slides/slide11.xml" Id="R88102f0e923b40b5" /><Relationship Type="http://schemas.openxmlformats.org/officeDocument/2006/relationships/slide" Target="/ppt/slides/slide12.xml" Id="Raa22e7ccc60f4361" /><Relationship Type="http://schemas.openxmlformats.org/officeDocument/2006/relationships/slide" Target="/ppt/slides/slide13.xml" Id="Re8d7bbf09ac44fdc" /><Relationship Type="http://schemas.openxmlformats.org/officeDocument/2006/relationships/slide" Target="/ppt/slides/slide14.xml" Id="Ra9aef9aa49a84ca6" /><Relationship Type="http://schemas.openxmlformats.org/officeDocument/2006/relationships/slide" Target="/ppt/slides/slide15.xml" Id="R02796d1136784fcf" /><Relationship Type="http://schemas.openxmlformats.org/officeDocument/2006/relationships/slide" Target="/ppt/slides/slide16.xml" Id="R7378e5ec66db4a4c" /><Relationship Type="http://schemas.openxmlformats.org/officeDocument/2006/relationships/slide" Target="/ppt/slides/slide17.xml" Id="R461d8c4ac36d4e42" /><Relationship Type="http://schemas.openxmlformats.org/officeDocument/2006/relationships/slide" Target="/ppt/slides/slide18.xml" Id="Rcb476c733a934901" /><Relationship Type="http://schemas.openxmlformats.org/officeDocument/2006/relationships/slide" Target="/ppt/slides/slide19.xml" Id="Rc913f15e70c7491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138c3fbd138f4ad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a44fa685a1e42c3" /><Relationship Type="http://schemas.openxmlformats.org/officeDocument/2006/relationships/notesMaster" Target="/ppt/notesMasters/notesMaster1.xml" Id="R4fe254a0be7041a1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e28cb81507eb4249" /><Relationship Type="http://schemas.openxmlformats.org/officeDocument/2006/relationships/notesMaster" Target="/ppt/notesMasters/notesMaster1.xml" Id="R5e44482087514c45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b88aaa8e6b8f4096" /><Relationship Type="http://schemas.openxmlformats.org/officeDocument/2006/relationships/notesMaster" Target="/ppt/notesMasters/notesMaster1.xml" Id="R196344a854fc438d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8d466d8cf2044d1" /><Relationship Type="http://schemas.openxmlformats.org/officeDocument/2006/relationships/notesMaster" Target="/ppt/notesMasters/notesMaster1.xml" Id="R090530210c10452b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cb6a4e4fc11146c4" /><Relationship Type="http://schemas.openxmlformats.org/officeDocument/2006/relationships/notesMaster" Target="/ppt/notesMasters/notesMaster1.xml" Id="R9b8757f573a942c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724c44052ba347f5" /><Relationship Type="http://schemas.openxmlformats.org/officeDocument/2006/relationships/notesMaster" Target="/ppt/notesMasters/notesMaster1.xml" Id="R117aba9bcbd0468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f88a6e4c2a4624" /><Relationship Type="http://schemas.openxmlformats.org/officeDocument/2006/relationships/notesMaster" Target="/ppt/notesMasters/notesMaster1.xml" Id="R8f05d96559a344e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691d1e9a78e4b44" /><Relationship Type="http://schemas.openxmlformats.org/officeDocument/2006/relationships/notesMaster" Target="/ppt/notesMasters/notesMaster1.xml" Id="R7071443d6afc4552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a260fb2dd68e476d" /><Relationship Type="http://schemas.openxmlformats.org/officeDocument/2006/relationships/notesMaster" Target="/ppt/notesMasters/notesMaster1.xml" Id="R7a3dfa8c51324598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336aef2cac7c4b74" /><Relationship Type="http://schemas.openxmlformats.org/officeDocument/2006/relationships/notesMaster" Target="/ppt/notesMasters/notesMaster1.xml" Id="R92c65f8a42574450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3828c6aa39324e9b" /><Relationship Type="http://schemas.openxmlformats.org/officeDocument/2006/relationships/notesMaster" Target="/ppt/notesMasters/notesMaster1.xml" Id="Rff2fcc68b2f743b2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039ca3de9034427a" /><Relationship Type="http://schemas.openxmlformats.org/officeDocument/2006/relationships/notesMaster" Target="/ppt/notesMasters/notesMaster1.xml" Id="R2216ca4daf684acc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11a8ab1f2b724633" /><Relationship Type="http://schemas.openxmlformats.org/officeDocument/2006/relationships/notesMaster" Target="/ppt/notesMasters/notesMaster1.xml" Id="R43a7c24533cc4ce9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3b8cf26a172a45e9" /><Relationship Type="http://schemas.openxmlformats.org/officeDocument/2006/relationships/notesMaster" Target="/ppt/notesMasters/notesMaster1.xml" Id="Rd9a4a3b7d5cf4516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effa95fac8f4eff" /><Relationship Type="http://schemas.openxmlformats.org/officeDocument/2006/relationships/notesMaster" Target="/ppt/notesMasters/notesMaster1.xml" Id="R5a3d9ba610ca48e4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5d11164d95314093" /><Relationship Type="http://schemas.openxmlformats.org/officeDocument/2006/relationships/notesMaster" Target="/ppt/notesMasters/notesMaster1.xml" Id="R3172482c97a24d8e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b75353ec80294062" /><Relationship Type="http://schemas.openxmlformats.org/officeDocument/2006/relationships/notesMaster" Target="/ppt/notesMasters/notesMaster1.xml" Id="R3c74f6a2c10d4aef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13c8f2ffc49844ad" /><Relationship Type="http://schemas.openxmlformats.org/officeDocument/2006/relationships/notesMaster" Target="/ppt/notesMasters/notesMaster1.xml" Id="R3d277cefb3cb495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248da0311bca4e33" /><Relationship Type="http://schemas.openxmlformats.org/officeDocument/2006/relationships/notesMaster" Target="/ppt/notesMasters/notesMaster1.xml" Id="Rff03f09d398f40f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  <a:p xmlns:a="http://schemas.openxmlformats.org/drawingml/2006/main">
            <a:r>
              <a:t>- WEF, Future of Jobs Report 2025: https://www.weforum.org/press/2025/01/future-of-jobs-report-2025-78-million-new-job-opportunities-by-2030-but-urgent-upskilling-needed-to-prepare-workforces/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  <a:p xmlns:a="http://schemas.openxmlformats.org/drawingml/2006/main">
            <a:r>
              <a:t>- WEF, Future of Jobs Report 2025: https://www.weforum.org/press/2025/01/future-of-jobs-report-2025-78-million-new-job-opportunities-by-2030-but-urgent-upskilling-needed-to-prepare-workforces/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WEF, Future of Jobs Report 2025: https://www.weforum.org/press/2025/01/future-of-jobs-report-2025-78-million-new-job-opportunities-by-2030-but-urgent-upskilling-needed-to-prepare-workforces/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NBER, Generative AI at Work: https://www.nber.org/papers/w31161</a:t>
            </a:r>
          </a:p>
          <a:p xmlns:a="http://schemas.openxmlformats.org/drawingml/2006/main">
            <a:r>
              <a:t>- Organization Science, Navigating the Jagged Technological Frontier: https://pubsonline.informs.org/doi/10.1287/orsc.2025.21838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  <a:p xmlns:a="http://schemas.openxmlformats.org/drawingml/2006/main">
            <a:r>
              <a:t>- NIST AI RMF: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  <a:p xmlns:a="http://schemas.openxmlformats.org/drawingml/2006/main">
            <a:r>
              <a:t>- NIST AI RMF: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Google, NotebookLM Help: https://support.google.com/gemininotebook/answer/16213268?hl=en</a:t>
            </a:r>
          </a:p>
          <a:p xmlns:a="http://schemas.openxmlformats.org/drawingml/2006/main">
            <a:r>
              <a:t>- Lilys.ai, YouTube summarizer: https://lilys.ai/en/features/youtube-summarizer/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OpenAI, Deep Research in ChatGPT: https://help.openai.com/en/articles/10500283-deep-research-in-chatgpt</a:t>
            </a:r>
          </a:p>
          <a:p xmlns:a="http://schemas.openxmlformats.org/drawingml/2006/main">
            <a:r>
              <a:t>- Perplexity, Creating assets: https://www.perplexity.ai/help-center/en/articles/12528830-creating-assets-with-perplexity-overview.html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  <a:p xmlns:a="http://schemas.openxmlformats.org/drawingml/2006/main">
            <a:r>
              <a:t>- NIST AI RMF: https://www.nist.gov/itl/ai-risk-management-framework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Gamma, Import slides/documents: https://help.gamma.app/en/articles/11047840-how-can-i-import-slides-or-documents-into-gamma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Anthropic, Claude Artifacts: https://support.anthropic.com/en/articles/9487310-what-are-artifacts-and-how-do-i-use-them</a:t>
            </a:r>
          </a:p>
          <a:p xmlns:a="http://schemas.openxmlformats.org/drawingml/2006/main">
            <a:r>
              <a:t>- Perplexity, Creating assets: https://www.perplexity.ai/help-center/en/articles/12528830-creating-assets-with-perplexity-overview.html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  <a:p xmlns:a="http://schemas.openxmlformats.org/drawingml/2006/main">
            <a:r>
              <a:t>- NIST AI RMF: https://www.nist.gov/itl/ai-risk-management-framework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OpenAI, Deep Research in ChatGPT: https://help.openai.com/en/articles/10500283-deep-research-in-chatgpt</a:t>
            </a:r>
          </a:p>
          <a:p xmlns:a="http://schemas.openxmlformats.org/drawingml/2006/main">
            <a:r>
              <a:t>- Google, NotebookLM Help: https://support.google.com/gemininotebook/answer/16213268?hl=en</a:t>
            </a:r>
          </a:p>
          <a:p xmlns:a="http://schemas.openxmlformats.org/drawingml/2006/main">
            <a:r>
              <a:t>- Anthropic, Claude Artifacts: https://support.anthropic.com/en/articles/9487310-what-are-artifacts-and-how-do-i-use-them</a:t>
            </a:r>
          </a:p>
          <a:p xmlns:a="http://schemas.openxmlformats.org/drawingml/2006/main">
            <a:r>
              <a:t>- Perplexity, Creating assets: https://www.perplexity.ai/help-center/en/articles/12528830-creating-assets-with-perplexity-overview.html</a:t>
            </a:r>
          </a:p>
          <a:p xmlns:a="http://schemas.openxmlformats.org/drawingml/2006/main">
            <a:r>
              <a:t>- Gamma, Import slides/documents: https://help.gamma.app/en/articles/11047840-how-can-i-import-slides-or-documents-into-gamma</a:t>
            </a:r>
          </a:p>
          <a:p xmlns:a="http://schemas.openxmlformats.org/drawingml/2006/main">
            <a:r>
              <a:t>- Lilys.ai, YouTube summarizer: https://lilys.ai/en/features/youtube-summarizer/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NIST AI RMF: https://www.nist.gov/itl/ai-risk-management-framework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NIST AI RMF: https://www.nist.gov/itl/ai-risk-management-framework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OECD, Skills in the AI Age (2026): https://www.oecd.org/content/dam/oecd/en/publications/reports/2026/07/skills-in-the-ai-age_e8d8c1e6/972bd15e-en.pdf</a:t>
            </a:r>
          </a:p>
          <a:p xmlns:a="http://schemas.openxmlformats.org/drawingml/2006/main">
            <a:r>
              <a:t>- WEF, Future of Jobs Report 2025: https://www.weforum.org/press/2025/01/future-of-jobs-report-2025-78-million-new-job-opportunities-by-2030-but-urgent-upskilling-needed-to-prepare-workforces/</a:t>
            </a:r>
          </a:p>
          <a:p xmlns:a="http://schemas.openxmlformats.org/drawingml/2006/main">
            <a:r>
              <a:t>- NBER, Generative AI at Work: https://www.nber.org/papers/w31161</a:t>
            </a:r>
          </a:p>
          <a:p xmlns:a="http://schemas.openxmlformats.org/drawingml/2006/main">
            <a:r>
              <a:t>- Organization Science, Navigating the Jagged Technological Frontier: https://pubsonline.informs.org/doi/10.1287/orsc.2025.21838</a:t>
            </a:r>
          </a:p>
          <a:p xmlns:a="http://schemas.openxmlformats.org/drawingml/2006/main">
            <a:r>
              <a:t>- NIST AI RMF: https://www.nist.gov/itl/ai-risk-management-framework</a:t>
            </a:r>
          </a:p>
          <a:p xmlns:a="http://schemas.openxmlformats.org/drawingml/2006/main">
            <a:r>
              <a:t>- 프로젝트 기존 1교시 자료: AI_Essential_1교시_Context_Engineering_2026.pptx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08a6ab4c1804017" /><Relationship Type="http://schemas.openxmlformats.org/officeDocument/2006/relationships/image" Target="/ppt/media/image.jpeg" Id="Ra4f42dae0386488f" /><Relationship Type="http://schemas.openxmlformats.org/officeDocument/2006/relationships/image" Target="/ppt/media/image.png" Id="Rc820c303d95b4cb6" /><Relationship Type="http://schemas.openxmlformats.org/officeDocument/2006/relationships/image" Target="/ppt/media/image2.png" Id="R1b83f4a8874647f9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9ce7c6bf7c4458c" /><Relationship Type="http://schemas.openxmlformats.org/officeDocument/2006/relationships/image" Target="/ppt/media/image.jpeg" Id="R0274f7603b6643d0" /><Relationship Type="http://schemas.openxmlformats.org/officeDocument/2006/relationships/image" Target="/ppt/media/image.png" Id="Rb5b74a15cff5428b" /><Relationship Type="http://schemas.openxmlformats.org/officeDocument/2006/relationships/image" Target="/ppt/media/image2.png" Id="R2d56ac0dea104e60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0323fdfcf794f21" /><Relationship Type="http://schemas.openxmlformats.org/officeDocument/2006/relationships/image" Target="/ppt/media/image.png" Id="Rbad5457538a74665" /><Relationship Type="http://schemas.openxmlformats.org/officeDocument/2006/relationships/image" Target="/ppt/media/image2.png" Id="Reff2d578409b4235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464f974e0f94ef8" /><Relationship Type="http://schemas.openxmlformats.org/officeDocument/2006/relationships/image" Target="/ppt/media/image.png" Id="R834f4adc49434322" /><Relationship Type="http://schemas.openxmlformats.org/officeDocument/2006/relationships/image" Target="/ppt/media/image2.png" Id="Rf88a776fc7214aa8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77d92bcdbdf4ed2" /><Relationship Type="http://schemas.openxmlformats.org/officeDocument/2006/relationships/image" Target="/ppt/media/image.png" Id="Rad0142d2bbdc41fa" /><Relationship Type="http://schemas.openxmlformats.org/officeDocument/2006/relationships/image" Target="/ppt/media/image2.png" Id="R73a6336c15544374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2f76baed61b24d43" /><Relationship Type="http://schemas.openxmlformats.org/officeDocument/2006/relationships/image" Target="/ppt/media/image.png" Id="R2145bc2b072c4f21" /><Relationship Type="http://schemas.openxmlformats.org/officeDocument/2006/relationships/image" Target="/ppt/media/image2.png" Id="R1f9d44bb6b6a4ed9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c6011a496824d07" /><Relationship Type="http://schemas.openxmlformats.org/officeDocument/2006/relationships/image" Target="/ppt/media/image.png" Id="Rc4805d636479418d" /><Relationship Type="http://schemas.openxmlformats.org/officeDocument/2006/relationships/image" Target="/ppt/media/image2.png" Id="R456733a4ba724b77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8a47f00474144f7a" /><Relationship Type="http://schemas.openxmlformats.org/officeDocument/2006/relationships/image" Target="/ppt/media/image.png" Id="Rbd017577a9994bce" /><Relationship Type="http://schemas.openxmlformats.org/officeDocument/2006/relationships/image" Target="/ppt/media/image2.png" Id="R5a4c826dab4840d7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975c40776704d9d" /><Relationship Type="http://schemas.openxmlformats.org/officeDocument/2006/relationships/image" Target="/ppt/media/image.png" Id="R32a8669c29254f0d" /></Relationships>
</file>

<file path=ppt/slideLayouts/slideLayout1.xml><?xml version="1.0" encoding="utf-8"?>
<p:sldLayout xmlns:p="http://schemas.openxmlformats.org/presentationml/2006/main" userDrawn="1">
  <p:cSld name="1_제목 슬라이드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4" name="그림 1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4f42dae0386488f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63" name="TextBox 62">
            <a:extLst xmlns:a="http://schemas.openxmlformats.org/drawingml/2006/main">
              <a:ext uri="{FF2B5EF4-FFF2-40B4-BE49-F238E27FC236}">
                <a16:creationId xmlns:a16="http://schemas.microsoft.com/office/drawing/2014/main" id="{3F3C9A06-2E27-4648-BE53-252717B660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0490" y="4616403"/>
            <a:ext cx="303959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>
                <a:solidFill>
                  <a:schemeClr val="bg2">
                    <a:lumMod val="90000"/>
                  </a:schemeClr>
                </a:solidFill>
              </a:rPr>
              <a:t>12”</a:t>
            </a:r>
            <a:endParaRPr sz="75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4" name="TextBox 63">
            <a:extLst xmlns:a="http://schemas.openxmlformats.org/drawingml/2006/main">
              <a:ext uri="{FF2B5EF4-FFF2-40B4-BE49-F238E27FC236}">
                <a16:creationId xmlns:a16="http://schemas.microsoft.com/office/drawing/2014/main" id="{A61734B2-2DFE-4BCE-AFEF-1012CBE4A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08840" y="4616403"/>
            <a:ext cx="303959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>
                <a:solidFill>
                  <a:schemeClr val="bg2">
                    <a:lumMod val="90000"/>
                  </a:schemeClr>
                </a:solidFill>
              </a:rPr>
              <a:t>8</a:t>
            </a:r>
            <a:r>
              <a:rPr sz="750">
                <a:solidFill>
                  <a:schemeClr val="bg2">
                    <a:lumMod val="90000"/>
                  </a:schemeClr>
                </a:solidFill>
              </a:rPr>
              <a:t>”</a:t>
            </a:r>
            <a:endParaRPr sz="75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5" name="TextBox 64">
            <a:extLst xmlns:a="http://schemas.openxmlformats.org/drawingml/2006/main">
              <a:ext uri="{FF2B5EF4-FFF2-40B4-BE49-F238E27FC236}">
                <a16:creationId xmlns:a16="http://schemas.microsoft.com/office/drawing/2014/main" id="{932AF6D5-6BCA-4D4E-9253-854607C05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29108" y="4616403"/>
            <a:ext cx="303959" cy="207749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750">
                <a:solidFill>
                  <a:schemeClr val="bg2">
                    <a:lumMod val="90000"/>
                  </a:schemeClr>
                </a:solidFill>
              </a:rPr>
              <a:t>6”</a:t>
            </a:r>
            <a:endParaRPr sz="750">
              <a:solidFill>
                <a:schemeClr val="bg2">
                  <a:lumMod val="90000"/>
                </a:schemeClr>
              </a:solidFill>
            </a:endParaRPr>
          </a:p>
        </p:txBody>
      </p:sp>
      <p:sp>
        <p:nvSpPr>
          <p:cNvPr id="67" name="TextBox 66">
            <a:extLst xmlns:a="http://schemas.openxmlformats.org/drawingml/2006/main">
              <a:ext uri="{FF2B5EF4-FFF2-40B4-BE49-F238E27FC236}">
                <a16:creationId xmlns:a16="http://schemas.microsoft.com/office/drawing/2014/main" id="{B37DB6F9-FFC1-4E06-B30E-66FCBEB2D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198858"/>
            <a:ext cx="3405188" cy="219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25">
                <a:solidFill>
                  <a:schemeClr val="accent3"/>
                </a:solidFill>
              </a:rPr>
              <a:t>Vision | </a:t>
            </a:r>
            <a:r>
              <a:rPr sz="825">
                <a:solidFill>
                  <a:schemeClr val="accent3"/>
                </a:solidFill>
              </a:rPr>
              <a:t>초일류 기술로 새로운 가능성을 열어가는 진정한 </a:t>
            </a:r>
            <a:r>
              <a:rPr sz="825">
                <a:solidFill>
                  <a:schemeClr val="accent3"/>
                </a:solidFill>
              </a:rPr>
              <a:t>1</a:t>
            </a:r>
            <a:r>
              <a:rPr sz="825">
                <a:solidFill>
                  <a:schemeClr val="accent3"/>
                </a:solidFill>
              </a:rPr>
              <a:t>등이 되자</a:t>
            </a:r>
            <a:endParaRPr sz="1050">
              <a:solidFill>
                <a:schemeClr val="accent3"/>
              </a:solidFill>
            </a:endParaRPr>
          </a:p>
        </p:txBody>
      </p:sp>
      <p:sp>
        <p:nvSpPr>
          <p:cNvPr id="68" name="TextBox 67">
            <a:extLst xmlns:a="http://schemas.openxmlformats.org/drawingml/2006/main">
              <a:ext uri="{FF2B5EF4-FFF2-40B4-BE49-F238E27FC236}">
                <a16:creationId xmlns:a16="http://schemas.microsoft.com/office/drawing/2014/main" id="{D7216FC9-3BF0-4AE5-8AB6-706B65211F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2127" y="198858"/>
            <a:ext cx="2965848" cy="21929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marR="0" lvl="0" indent="0" algn="l" defTabSz="685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825">
                <a:solidFill>
                  <a:schemeClr val="accent3"/>
                </a:solidFill>
              </a:rPr>
              <a:t>Mission</a:t>
            </a:r>
            <a:r>
              <a:rPr sz="825">
                <a:solidFill>
                  <a:schemeClr val="accent3"/>
                </a:solidFill>
              </a:rPr>
              <a:t> </a:t>
            </a:r>
            <a:r>
              <a:rPr sz="825">
                <a:solidFill>
                  <a:schemeClr val="accent3"/>
                </a:solidFill>
              </a:rPr>
              <a:t>| </a:t>
            </a:r>
            <a:r>
              <a:rPr sz="825">
                <a:solidFill>
                  <a:schemeClr val="accent3"/>
                </a:solidFill>
              </a:rPr>
              <a:t>함께 </a:t>
            </a:r>
            <a:r>
              <a:rPr sz="825">
                <a:solidFill>
                  <a:schemeClr val="accent3"/>
                </a:solidFill>
              </a:rPr>
              <a:t>지속 성장하는 </a:t>
            </a:r>
            <a:r>
              <a:rPr sz="825">
                <a:solidFill>
                  <a:schemeClr val="accent3"/>
                </a:solidFill>
              </a:rPr>
              <a:t>No.1 </a:t>
            </a:r>
            <a:r>
              <a:rPr sz="825">
                <a:solidFill>
                  <a:schemeClr val="accent3"/>
                </a:solidFill>
              </a:rPr>
              <a:t>메모리 솔루션 </a:t>
            </a:r>
            <a:r>
              <a:rPr sz="825">
                <a:solidFill>
                  <a:schemeClr val="accent3"/>
                </a:solidFill>
              </a:rPr>
              <a:t>Provider</a:t>
            </a:r>
            <a:endParaRPr sz="825">
              <a:solidFill>
                <a:schemeClr val="accent3"/>
              </a:solidFill>
            </a:endParaRPr>
          </a:p>
        </p:txBody>
      </p:sp>
      <p:sp>
        <p:nvSpPr>
          <p:cNvPr id="73" name="TextBox 72">
            <a:extLst xmlns:a="http://schemas.openxmlformats.org/drawingml/2006/main">
              <a:ext uri="{FF2B5EF4-FFF2-40B4-BE49-F238E27FC236}">
                <a16:creationId xmlns:a16="http://schemas.microsoft.com/office/drawing/2014/main" id="{06DEFD71-2144-4E96-B74F-663DDF6E1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accent3"/>
                </a:solidFill>
              </a:rPr>
              <a:t>함께 성장하는 행복한 메모리사업부</a:t>
            </a:r>
            <a:endParaRPr sz="1013">
              <a:solidFill>
                <a:schemeClr val="accent3"/>
              </a:solidFill>
            </a:endParaRPr>
          </a:p>
        </p:txBody>
      </p:sp>
      <p:sp>
        <p:nvSpPr>
          <p:cNvPr id="3" name="제목 2">
            <a:extLst xmlns:a="http://schemas.openxmlformats.org/drawingml/2006/main">
              <a:ext uri="{FF2B5EF4-FFF2-40B4-BE49-F238E27FC236}">
                <a16:creationId xmlns:a16="http://schemas.microsoft.com/office/drawing/2014/main" id="{5DDA61D4-60DC-45BB-B4E4-4FF13027E886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444882" y="986400"/>
            <a:ext cx="7886700" cy="1381314"/>
          </a:xfrm>
        </p:spPr>
        <p:txBody>
          <a:bodyPr xmlns:a="http://schemas.openxmlformats.org/drawingml/2006/main">
            <a:noAutofit/>
          </a:bodyPr>
          <a:lstStyle xmlns:a="http://schemas.openxmlformats.org/drawingml/2006/main">
            <a:lvl1pPr>
              <a:lnSpc>
                <a:spcPct val="120000"/>
              </a:lnSpc>
              <a:buNone/>
              <a:defRPr sz="3600" b="1"/>
            </a:lvl1pPr>
          </a:lstStyle>
          <a:p xmlns:a="http://schemas.openxmlformats.org/drawingml/2006/main">
            <a:r>
              <a:t>타이틀</a:t>
            </a:r>
            <a:br/>
            <a:r>
              <a:t>(</a:t>
            </a:r>
            <a:r>
              <a:t>맑은 고딕 </a:t>
            </a:r>
            <a:r>
              <a:t>Bold, 36) </a:t>
            </a:r>
            <a:endParaRPr/>
          </a:p>
        </p:txBody>
      </p:sp>
      <p:pic>
        <p:nvPicPr>
          <p:cNvPr id="172" name="그림 6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820c303d95b4cb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86B03D40-CE7D-438A-A540-A594E3A15258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445294" y="2550319"/>
            <a:ext cx="5763816" cy="1275792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0" indent="0">
              <a:lnSpc>
                <a:spcPct val="120000"/>
              </a:lnSpc>
              <a:buNone/>
              <a:defRPr sz="1700"/>
            </a:lvl1pPr>
          </a:lstStyle>
          <a:p xmlns:a="http://schemas.openxmlformats.org/drawingml/2006/main">
            <a:pPr lvl="0">
              <a:buNone/>
            </a:pPr>
            <a:r>
              <a:t>'23.00.00(</a:t>
            </a:r>
            <a:r>
              <a:t>월</a:t>
            </a:r>
            <a:r>
              <a:t>)</a:t>
            </a:r>
          </a:p>
          <a:p xmlns:a="http://schemas.openxmlformats.org/drawingml/2006/main">
            <a:pPr lvl="0">
              <a:buNone/>
            </a:pPr>
            <a:r>
              <a:t>부서명</a:t>
            </a:r>
            <a:r>
              <a:t>, </a:t>
            </a:r>
            <a:r>
              <a:t>작성자</a:t>
            </a:r>
            <a:endParaRPr/>
          </a:p>
          <a:p xmlns:a="http://schemas.openxmlformats.org/drawingml/2006/main">
            <a:pPr lvl="0">
              <a:buNone/>
            </a:pPr>
            <a:r>
              <a:t>(</a:t>
            </a:r>
            <a:r>
              <a:t>맑은 고딕</a:t>
            </a:r>
            <a:r>
              <a:t>, 17)</a:t>
            </a:r>
          </a:p>
        </p:txBody>
      </p:sp>
      <p:sp>
        <p:nvSpPr>
          <p:cNvPr id="72" name="액자 71">
            <a:extLst xmlns:a="http://schemas.openxmlformats.org/drawingml/2006/main">
              <a:ext uri="{FF2B5EF4-FFF2-40B4-BE49-F238E27FC236}">
                <a16:creationId xmlns:a16="http://schemas.microsoft.com/office/drawing/2014/main" id="{0473220E-857E-4C05-8186-A0F3429191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6583" y="3144053"/>
            <a:ext cx="261461" cy="262261"/>
          </a:xfrm>
          <a:prstGeom xmlns:a="http://schemas.openxmlformats.org/drawingml/2006/main" prst="fram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schemeClr val="tx1"/>
              </a:solidFill>
            </a:endParaRPr>
          </a:p>
        </p:txBody>
      </p:sp>
      <p:sp>
        <p:nvSpPr>
          <p:cNvPr id="74" name="직선 연결선 73">
            <a:extLst xmlns:a="http://schemas.openxmlformats.org/drawingml/2006/main">
              <a:ext uri="{FF2B5EF4-FFF2-40B4-BE49-F238E27FC236}">
                <a16:creationId xmlns:a16="http://schemas.microsoft.com/office/drawing/2014/main" id="{536A47A5-67F4-4A5B-AA5A-2471DD18B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3290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직선 연결선 74">
            <a:extLst xmlns:a="http://schemas.openxmlformats.org/drawingml/2006/main">
              <a:ext uri="{FF2B5EF4-FFF2-40B4-BE49-F238E27FC236}">
                <a16:creationId xmlns:a16="http://schemas.microsoft.com/office/drawing/2014/main" id="{505E942B-619F-49AA-AB84-0BBD56B0A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7449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직선 연결선 75">
            <a:extLst xmlns:a="http://schemas.openxmlformats.org/drawingml/2006/main">
              <a:ext uri="{FF2B5EF4-FFF2-40B4-BE49-F238E27FC236}">
                <a16:creationId xmlns:a16="http://schemas.microsoft.com/office/drawing/2014/main" id="{2B2079B3-1183-4053-91CB-76EF8C791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1607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직선 연결선 76">
            <a:extLst xmlns:a="http://schemas.openxmlformats.org/drawingml/2006/main">
              <a:ext uri="{FF2B5EF4-FFF2-40B4-BE49-F238E27FC236}">
                <a16:creationId xmlns:a16="http://schemas.microsoft.com/office/drawing/2014/main" id="{546F163E-8E77-4F07-B847-F1A9951010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3290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8" name="직선 연결선 77">
            <a:extLst xmlns:a="http://schemas.openxmlformats.org/drawingml/2006/main">
              <a:ext uri="{FF2B5EF4-FFF2-40B4-BE49-F238E27FC236}">
                <a16:creationId xmlns:a16="http://schemas.microsoft.com/office/drawing/2014/main" id="{34FFD1EB-292B-41FA-A58D-30FA0AC3E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7449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9" name="직선 연결선 78">
            <a:extLst xmlns:a="http://schemas.openxmlformats.org/drawingml/2006/main">
              <a:ext uri="{FF2B5EF4-FFF2-40B4-BE49-F238E27FC236}">
                <a16:creationId xmlns:a16="http://schemas.microsoft.com/office/drawing/2014/main" id="{D57FB0EC-BE5B-45C0-A6E6-F2B74CAB1F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1607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5" name="직선 연결선 84">
            <a:extLst xmlns:a="http://schemas.openxmlformats.org/drawingml/2006/main">
              <a:ext uri="{FF2B5EF4-FFF2-40B4-BE49-F238E27FC236}">
                <a16:creationId xmlns:a16="http://schemas.microsoft.com/office/drawing/2014/main" id="{7DBA9ED7-3814-4B70-B904-7DC18276E3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447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6" name="직선 연결선 85">
            <a:extLst xmlns:a="http://schemas.openxmlformats.org/drawingml/2006/main">
              <a:ext uri="{FF2B5EF4-FFF2-40B4-BE49-F238E27FC236}">
                <a16:creationId xmlns:a16="http://schemas.microsoft.com/office/drawing/2014/main" id="{A7DB4D72-B230-418C-AA3D-C5E965A2B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605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직선 연결선 86">
            <a:extLst xmlns:a="http://schemas.openxmlformats.org/drawingml/2006/main">
              <a:ext uri="{FF2B5EF4-FFF2-40B4-BE49-F238E27FC236}">
                <a16:creationId xmlns:a16="http://schemas.microsoft.com/office/drawing/2014/main" id="{65E73E77-7A0E-4440-9C2B-C49754E9D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2763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2" name="직선 연결선 81">
            <a:extLst xmlns:a="http://schemas.openxmlformats.org/drawingml/2006/main">
              <a:ext uri="{FF2B5EF4-FFF2-40B4-BE49-F238E27FC236}">
                <a16:creationId xmlns:a16="http://schemas.microsoft.com/office/drawing/2014/main" id="{C6940601-58E0-4533-83A5-DA4080CDC0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6149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3" name="직선 연결선 82">
            <a:extLst xmlns:a="http://schemas.openxmlformats.org/drawingml/2006/main">
              <a:ext uri="{FF2B5EF4-FFF2-40B4-BE49-F238E27FC236}">
                <a16:creationId xmlns:a16="http://schemas.microsoft.com/office/drawing/2014/main" id="{496EB1E5-37F3-43C7-9916-8BEDFBFCF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307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4" name="직선 연결선 83">
            <a:extLst xmlns:a="http://schemas.openxmlformats.org/drawingml/2006/main">
              <a:ext uri="{FF2B5EF4-FFF2-40B4-BE49-F238E27FC236}">
                <a16:creationId xmlns:a16="http://schemas.microsoft.com/office/drawing/2014/main" id="{27B99AD1-584D-44DE-B7B3-49D57937E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4465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9" name="모서리가 둥근 직사각형 88">
            <a:extLst xmlns:a="http://schemas.openxmlformats.org/drawingml/2006/main">
              <a:ext uri="{FF2B5EF4-FFF2-40B4-BE49-F238E27FC236}">
                <a16:creationId xmlns:a16="http://schemas.microsoft.com/office/drawing/2014/main" id="{ED2461C5-605C-42C4-8F12-DCB9E152B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137" y="3057699"/>
            <a:ext cx="45898" cy="4281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90" name="모서리가 둥근 직사각형 89">
            <a:extLst xmlns:a="http://schemas.openxmlformats.org/drawingml/2006/main">
              <a:ext uri="{FF2B5EF4-FFF2-40B4-BE49-F238E27FC236}">
                <a16:creationId xmlns:a16="http://schemas.microsoft.com/office/drawing/2014/main" id="{F214F5CF-A81B-4598-A876-97613342A1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1527" y="3057699"/>
            <a:ext cx="45898" cy="4281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91" name="타원 90">
            <a:extLst xmlns:a="http://schemas.openxmlformats.org/drawingml/2006/main">
              <a:ext uri="{FF2B5EF4-FFF2-40B4-BE49-F238E27FC236}">
                <a16:creationId xmlns:a16="http://schemas.microsoft.com/office/drawing/2014/main" id="{167D964D-8EAC-47CC-9F71-74E9B72BA0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346974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92" name="타원 91">
            <a:extLst xmlns:a="http://schemas.openxmlformats.org/drawingml/2006/main">
              <a:ext uri="{FF2B5EF4-FFF2-40B4-BE49-F238E27FC236}">
                <a16:creationId xmlns:a16="http://schemas.microsoft.com/office/drawing/2014/main" id="{F470BED5-D644-4C28-8293-28F361713D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346974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91" name="직선 연결선 92"/>
          <p:cNvCxnSpPr>
            <a:stCxn xmlns:a="http://schemas.openxmlformats.org/drawingml/2006/main" id="91" idx="4"/>
            <a:endCxn xmlns:a="http://schemas.openxmlformats.org/drawingml/2006/main" id="92" idx="0"/>
          </p:cNvCxnSpPr>
          <p:nvPr/>
        </p:nvCxnSpPr>
        <p:spPr>
          <a:xfrm xmlns:a="http://schemas.openxmlformats.org/drawingml/2006/main" rot="0" flipH="0" flipV="0">
            <a:off x="8016324" y="3361824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4" name="타원 93">
            <a:extLst xmlns:a="http://schemas.openxmlformats.org/drawingml/2006/main">
              <a:ext uri="{FF2B5EF4-FFF2-40B4-BE49-F238E27FC236}">
                <a16:creationId xmlns:a16="http://schemas.microsoft.com/office/drawing/2014/main" id="{8BCD0350-10A1-479B-8FB2-2E18A94CBE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256799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95" name="타원 94">
            <a:extLst xmlns:a="http://schemas.openxmlformats.org/drawingml/2006/main">
              <a:ext uri="{FF2B5EF4-FFF2-40B4-BE49-F238E27FC236}">
                <a16:creationId xmlns:a16="http://schemas.microsoft.com/office/drawing/2014/main" id="{2191B504-CD09-4FBF-92AE-D41AA1A95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256799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94" name="직선 연결선 95"/>
          <p:cNvCxnSpPr>
            <a:stCxn xmlns:a="http://schemas.openxmlformats.org/drawingml/2006/main" id="94" idx="4"/>
            <a:endCxn xmlns:a="http://schemas.openxmlformats.org/drawingml/2006/main" id="95" idx="0"/>
          </p:cNvCxnSpPr>
          <p:nvPr/>
        </p:nvCxnSpPr>
        <p:spPr>
          <a:xfrm xmlns:a="http://schemas.openxmlformats.org/drawingml/2006/main" rot="0" flipH="0" flipV="0">
            <a:off x="8016324" y="3271649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97" name="타원 96">
            <a:extLst xmlns:a="http://schemas.openxmlformats.org/drawingml/2006/main">
              <a:ext uri="{FF2B5EF4-FFF2-40B4-BE49-F238E27FC236}">
                <a16:creationId xmlns:a16="http://schemas.microsoft.com/office/drawing/2014/main" id="{7D6879BD-CFFE-48D9-849F-950C8A69B3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171297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98" name="타원 97">
            <a:extLst xmlns:a="http://schemas.openxmlformats.org/drawingml/2006/main">
              <a:ext uri="{FF2B5EF4-FFF2-40B4-BE49-F238E27FC236}">
                <a16:creationId xmlns:a16="http://schemas.microsoft.com/office/drawing/2014/main" id="{B80C887E-5823-49AE-A685-85BC87E024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171297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97" name="직선 연결선 98"/>
          <p:cNvCxnSpPr>
            <a:stCxn xmlns:a="http://schemas.openxmlformats.org/drawingml/2006/main" id="97" idx="4"/>
            <a:endCxn xmlns:a="http://schemas.openxmlformats.org/drawingml/2006/main" id="98" idx="0"/>
          </p:cNvCxnSpPr>
          <p:nvPr/>
        </p:nvCxnSpPr>
        <p:spPr>
          <a:xfrm xmlns:a="http://schemas.openxmlformats.org/drawingml/2006/main" rot="0" flipH="0" flipV="0">
            <a:off x="8016324" y="3186147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100" name="직사각형 99">
            <a:extLst xmlns:a="http://schemas.openxmlformats.org/drawingml/2006/main">
              <a:ext uri="{FF2B5EF4-FFF2-40B4-BE49-F238E27FC236}">
                <a16:creationId xmlns:a16="http://schemas.microsoft.com/office/drawing/2014/main" id="{B36A4A1F-9C5C-4381-B88B-FFA9FE9D4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137" y="3122358"/>
            <a:ext cx="161288" cy="299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01" name="직사각형 100">
            <a:extLst xmlns:a="http://schemas.openxmlformats.org/drawingml/2006/main">
              <a:ext uri="{FF2B5EF4-FFF2-40B4-BE49-F238E27FC236}">
                <a16:creationId xmlns:a16="http://schemas.microsoft.com/office/drawing/2014/main" id="{4B1F118A-BC73-4C1B-811C-D869A2638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0953" y="3146364"/>
            <a:ext cx="110553" cy="249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03" name="직선 연결선 102">
            <a:extLst xmlns:a="http://schemas.openxmlformats.org/drawingml/2006/main">
              <a:ext uri="{FF2B5EF4-FFF2-40B4-BE49-F238E27FC236}">
                <a16:creationId xmlns:a16="http://schemas.microsoft.com/office/drawing/2014/main" id="{E934C0C6-8905-4313-B45B-7E159BE57C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43999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4" name="직선 연결선 103">
            <a:extLst xmlns:a="http://schemas.openxmlformats.org/drawingml/2006/main">
              <a:ext uri="{FF2B5EF4-FFF2-40B4-BE49-F238E27FC236}">
                <a16:creationId xmlns:a16="http://schemas.microsoft.com/office/drawing/2014/main" id="{C8AAC672-3B1E-4C54-A3E5-FDB911A48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50110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5" name="직선 연결선 104">
            <a:extLst xmlns:a="http://schemas.openxmlformats.org/drawingml/2006/main">
              <a:ext uri="{FF2B5EF4-FFF2-40B4-BE49-F238E27FC236}">
                <a16:creationId xmlns:a16="http://schemas.microsoft.com/office/drawing/2014/main" id="{0A49A193-F6AF-4130-92C5-ABC19A49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562219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0" name="직선 연결선 109">
            <a:extLst xmlns:a="http://schemas.openxmlformats.org/drawingml/2006/main">
              <a:ext uri="{FF2B5EF4-FFF2-40B4-BE49-F238E27FC236}">
                <a16:creationId xmlns:a16="http://schemas.microsoft.com/office/drawing/2014/main" id="{266BEB46-D90B-4CB5-839F-0215D6027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43999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1" name="직선 연결선 110">
            <a:extLst xmlns:a="http://schemas.openxmlformats.org/drawingml/2006/main">
              <a:ext uri="{FF2B5EF4-FFF2-40B4-BE49-F238E27FC236}">
                <a16:creationId xmlns:a16="http://schemas.microsoft.com/office/drawing/2014/main" id="{6B0715FB-CBBC-4D2E-8FC7-907F46AE9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50110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2" name="직선 연결선 111">
            <a:extLst xmlns:a="http://schemas.openxmlformats.org/drawingml/2006/main">
              <a:ext uri="{FF2B5EF4-FFF2-40B4-BE49-F238E27FC236}">
                <a16:creationId xmlns:a16="http://schemas.microsoft.com/office/drawing/2014/main" id="{C6405CCC-C8D3-4F0A-972F-48ECF9298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562219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07" name="모서리가 둥근 직사각형 106">
            <a:extLst xmlns:a="http://schemas.openxmlformats.org/drawingml/2006/main">
              <a:ext uri="{FF2B5EF4-FFF2-40B4-BE49-F238E27FC236}">
                <a16:creationId xmlns:a16="http://schemas.microsoft.com/office/drawing/2014/main" id="{607ABE3C-2709-42C3-94E6-B82E2CE597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7335" y="4373858"/>
            <a:ext cx="253628" cy="252911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08" name="육각형 107">
            <a:extLst xmlns:a="http://schemas.openxmlformats.org/drawingml/2006/main">
              <a:ext uri="{FF2B5EF4-FFF2-40B4-BE49-F238E27FC236}">
                <a16:creationId xmlns:a16="http://schemas.microsoft.com/office/drawing/2014/main" id="{A6B400DA-38FC-4560-8BE7-7E11E487D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9508" y="4421029"/>
            <a:ext cx="188595" cy="16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09" name="다이아몬드 108">
            <a:extLst xmlns:a="http://schemas.openxmlformats.org/drawingml/2006/main">
              <a:ext uri="{FF2B5EF4-FFF2-40B4-BE49-F238E27FC236}">
                <a16:creationId xmlns:a16="http://schemas.microsoft.com/office/drawing/2014/main" id="{079D56DA-FA02-4EC3-9E9B-FC61FB4F6B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0402" y="4446812"/>
            <a:ext cx="107893" cy="10789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14" name="직선 연결선 113">
            <a:extLst xmlns:a="http://schemas.openxmlformats.org/drawingml/2006/main">
              <a:ext uri="{FF2B5EF4-FFF2-40B4-BE49-F238E27FC236}">
                <a16:creationId xmlns:a16="http://schemas.microsoft.com/office/drawing/2014/main" id="{A6514522-3445-4270-9CCF-67792A92B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3731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5" name="직선 연결선 114">
            <a:extLst xmlns:a="http://schemas.openxmlformats.org/drawingml/2006/main">
              <a:ext uri="{FF2B5EF4-FFF2-40B4-BE49-F238E27FC236}">
                <a16:creationId xmlns:a16="http://schemas.microsoft.com/office/drawing/2014/main" id="{FAE24C92-64DC-42A3-A1FA-803333492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9452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6" name="직선 연결선 115">
            <a:extLst xmlns:a="http://schemas.openxmlformats.org/drawingml/2006/main">
              <a:ext uri="{FF2B5EF4-FFF2-40B4-BE49-F238E27FC236}">
                <a16:creationId xmlns:a16="http://schemas.microsoft.com/office/drawing/2014/main" id="{D28BFBA3-C1FC-4F9C-8D56-A2872EBB4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4754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7" name="직선 연결선 116">
            <a:extLst xmlns:a="http://schemas.openxmlformats.org/drawingml/2006/main">
              <a:ext uri="{FF2B5EF4-FFF2-40B4-BE49-F238E27FC236}">
                <a16:creationId xmlns:a16="http://schemas.microsoft.com/office/drawing/2014/main" id="{E54815B2-499A-4048-AC07-F80A81247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0020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18" name="직사각형 117">
            <a:extLst xmlns:a="http://schemas.openxmlformats.org/drawingml/2006/main">
              <a:ext uri="{FF2B5EF4-FFF2-40B4-BE49-F238E27FC236}">
                <a16:creationId xmlns:a16="http://schemas.microsoft.com/office/drawing/2014/main" id="{24733B18-3733-4041-A5B2-28146A6F17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8015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19" name="직사각형 118">
            <a:extLst xmlns:a="http://schemas.openxmlformats.org/drawingml/2006/main">
              <a:ext uri="{FF2B5EF4-FFF2-40B4-BE49-F238E27FC236}">
                <a16:creationId xmlns:a16="http://schemas.microsoft.com/office/drawing/2014/main" id="{939A11A4-0C0C-427F-A152-18C2A6AA4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2813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20" name="직사각형 119">
            <a:extLst xmlns:a="http://schemas.openxmlformats.org/drawingml/2006/main">
              <a:ext uri="{FF2B5EF4-FFF2-40B4-BE49-F238E27FC236}">
                <a16:creationId xmlns:a16="http://schemas.microsoft.com/office/drawing/2014/main" id="{057BF23C-0FA5-4F13-A7E4-E5CD1B5682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7610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21" name="직사각형 120">
            <a:extLst xmlns:a="http://schemas.openxmlformats.org/drawingml/2006/main">
              <a:ext uri="{FF2B5EF4-FFF2-40B4-BE49-F238E27FC236}">
                <a16:creationId xmlns:a16="http://schemas.microsoft.com/office/drawing/2014/main" id="{36A68366-4B3E-40AE-A4B9-3C6FF9705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2408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22" name="타원 121">
            <a:extLst xmlns:a="http://schemas.openxmlformats.org/drawingml/2006/main">
              <a:ext uri="{FF2B5EF4-FFF2-40B4-BE49-F238E27FC236}">
                <a16:creationId xmlns:a16="http://schemas.microsoft.com/office/drawing/2014/main" id="{77D66D4C-1395-4232-A522-05A361F7D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8015" y="3792166"/>
            <a:ext cx="198682" cy="198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123" name="타원 122">
            <a:extLst xmlns:a="http://schemas.openxmlformats.org/drawingml/2006/main">
              <a:ext uri="{FF2B5EF4-FFF2-40B4-BE49-F238E27FC236}">
                <a16:creationId xmlns:a16="http://schemas.microsoft.com/office/drawing/2014/main" id="{3C2CCC8C-38B2-445D-B813-F7DBDF9C56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1958" y="3826110"/>
            <a:ext cx="130795" cy="130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pic>
        <p:nvPicPr>
          <p:cNvPr id="219" name="그림 12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b83f4a8874647f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</p:spTree>
  </p:cSld>
</p:sldLayout>
</file>

<file path=ppt/slideLayouts/slideLayout2.xml><?xml version="1.0" encoding="utf-8"?>
<p:sldLayout xmlns:p="http://schemas.openxmlformats.org/presentationml/2006/main" userDrawn="1">
  <p:cSld name="1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23" name="그림 8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74f7603b6643d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9144000" cy="5143500"/>
          </a:xfrm>
          <a:prstGeom xmlns:a="http://schemas.openxmlformats.org/drawingml/2006/main" prst="rect">
            <a:avLst/>
          </a:prstGeom>
        </p:spPr>
      </p:pic>
      <p:sp>
        <p:nvSpPr>
          <p:cNvPr id="32" name="액자 31">
            <a:extLst xmlns:a="http://schemas.openxmlformats.org/drawingml/2006/main">
              <a:ext uri="{FF2B5EF4-FFF2-40B4-BE49-F238E27FC236}">
                <a16:creationId xmlns:a16="http://schemas.microsoft.com/office/drawing/2014/main" id="{827613CC-2D87-45EF-8515-16E1A83AAA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6583" y="3144053"/>
            <a:ext cx="261461" cy="262261"/>
          </a:xfrm>
          <a:prstGeom xmlns:a="http://schemas.openxmlformats.org/drawingml/2006/main" prst="fram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>
              <a:solidFill>
                <a:schemeClr val="tx1"/>
              </a:solidFill>
            </a:endParaRPr>
          </a:p>
        </p:txBody>
      </p:sp>
      <p:sp>
        <p:nvSpPr>
          <p:cNvPr id="33" name="직선 연결선 32">
            <a:extLst xmlns:a="http://schemas.openxmlformats.org/drawingml/2006/main">
              <a:ext uri="{FF2B5EF4-FFF2-40B4-BE49-F238E27FC236}">
                <a16:creationId xmlns:a16="http://schemas.microsoft.com/office/drawing/2014/main" id="{A508F2A1-195C-4375-8C37-7D8F38C84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3290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4" name="직선 연결선 33">
            <a:extLst xmlns:a="http://schemas.openxmlformats.org/drawingml/2006/main">
              <a:ext uri="{FF2B5EF4-FFF2-40B4-BE49-F238E27FC236}">
                <a16:creationId xmlns:a16="http://schemas.microsoft.com/office/drawing/2014/main" id="{CEFDDCE7-C8DA-4CE7-AB83-EA6534BE9F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7449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5" name="직선 연결선 34">
            <a:extLst xmlns:a="http://schemas.openxmlformats.org/drawingml/2006/main">
              <a:ext uri="{FF2B5EF4-FFF2-40B4-BE49-F238E27FC236}">
                <a16:creationId xmlns:a16="http://schemas.microsoft.com/office/drawing/2014/main" id="{1E772BDD-CF13-4BCF-8E09-6334A7344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1607" y="3058340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6" name="직선 연결선 35">
            <a:extLst xmlns:a="http://schemas.openxmlformats.org/drawingml/2006/main">
              <a:ext uri="{FF2B5EF4-FFF2-40B4-BE49-F238E27FC236}">
                <a16:creationId xmlns:a16="http://schemas.microsoft.com/office/drawing/2014/main" id="{4BDF1FE0-BA9E-4508-A93E-D6047E6AA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3290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7" name="직선 연결선 36">
            <a:extLst xmlns:a="http://schemas.openxmlformats.org/drawingml/2006/main">
              <a:ext uri="{FF2B5EF4-FFF2-40B4-BE49-F238E27FC236}">
                <a16:creationId xmlns:a16="http://schemas.microsoft.com/office/drawing/2014/main" id="{601F238F-ECE9-4F12-91B5-13E2095A57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87449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8" name="직선 연결선 37">
            <a:extLst xmlns:a="http://schemas.openxmlformats.org/drawingml/2006/main">
              <a:ext uri="{FF2B5EF4-FFF2-40B4-BE49-F238E27FC236}">
                <a16:creationId xmlns:a16="http://schemas.microsoft.com/office/drawing/2014/main" id="{0F3EDD1D-D538-43AF-9C4E-ABD991058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1607" y="3403548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4" name="직선 연결선 43">
            <a:extLst xmlns:a="http://schemas.openxmlformats.org/drawingml/2006/main">
              <a:ext uri="{FF2B5EF4-FFF2-40B4-BE49-F238E27FC236}">
                <a16:creationId xmlns:a16="http://schemas.microsoft.com/office/drawing/2014/main" id="{C8FDDCCA-23BF-4574-A66D-5D2C86A528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94447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5" name="직선 연결선 44">
            <a:extLst xmlns:a="http://schemas.openxmlformats.org/drawingml/2006/main">
              <a:ext uri="{FF2B5EF4-FFF2-40B4-BE49-F238E27FC236}">
                <a16:creationId xmlns:a16="http://schemas.microsoft.com/office/drawing/2014/main" id="{3BE2EBD9-7EE8-450D-A49D-FA425813C2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758605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직선 연결선 45">
            <a:extLst xmlns:a="http://schemas.openxmlformats.org/drawingml/2006/main">
              <a:ext uri="{FF2B5EF4-FFF2-40B4-BE49-F238E27FC236}">
                <a16:creationId xmlns:a16="http://schemas.microsoft.com/office/drawing/2014/main" id="{853856C8-BFF2-421F-9714-C3BA265980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822763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1" name="직선 연결선 40">
            <a:extLst xmlns:a="http://schemas.openxmlformats.org/drawingml/2006/main">
              <a:ext uri="{FF2B5EF4-FFF2-40B4-BE49-F238E27FC236}">
                <a16:creationId xmlns:a16="http://schemas.microsoft.com/office/drawing/2014/main" id="{1A64D996-72A6-45AF-8B4A-3B3A9B407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46149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2" name="직선 연결선 41">
            <a:extLst xmlns:a="http://schemas.openxmlformats.org/drawingml/2006/main">
              <a:ext uri="{FF2B5EF4-FFF2-40B4-BE49-F238E27FC236}">
                <a16:creationId xmlns:a16="http://schemas.microsoft.com/office/drawing/2014/main" id="{E61A3DF5-DEAA-4935-A120-69F3590EB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10307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3" name="직선 연결선 42">
            <a:extLst xmlns:a="http://schemas.openxmlformats.org/drawingml/2006/main">
              <a:ext uri="{FF2B5EF4-FFF2-40B4-BE49-F238E27FC236}">
                <a16:creationId xmlns:a16="http://schemas.microsoft.com/office/drawing/2014/main" id="{8DDB947D-B618-4A90-B926-10D0A86C32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74465" y="3233553"/>
            <a:ext cx="0" cy="81122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8" name="모서리가 둥근 직사각형 47">
            <a:extLst xmlns:a="http://schemas.openxmlformats.org/drawingml/2006/main">
              <a:ext uri="{FF2B5EF4-FFF2-40B4-BE49-F238E27FC236}">
                <a16:creationId xmlns:a16="http://schemas.microsoft.com/office/drawing/2014/main" id="{212E255B-2F68-491B-B4A0-E8EFAE02C2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137" y="3057699"/>
            <a:ext cx="45898" cy="4281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49" name="모서리가 둥근 직사각형 48">
            <a:extLst xmlns:a="http://schemas.openxmlformats.org/drawingml/2006/main">
              <a:ext uri="{FF2B5EF4-FFF2-40B4-BE49-F238E27FC236}">
                <a16:creationId xmlns:a16="http://schemas.microsoft.com/office/drawing/2014/main" id="{47C8328A-3FD0-4039-9FEF-2272B0063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211527" y="3057699"/>
            <a:ext cx="45898" cy="428156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50" name="타원 49">
            <a:extLst xmlns:a="http://schemas.openxmlformats.org/drawingml/2006/main">
              <a:ext uri="{FF2B5EF4-FFF2-40B4-BE49-F238E27FC236}">
                <a16:creationId xmlns:a16="http://schemas.microsoft.com/office/drawing/2014/main" id="{1987A99C-2CC8-4AB6-9843-48C57192F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346974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51" name="타원 50">
            <a:extLst xmlns:a="http://schemas.openxmlformats.org/drawingml/2006/main">
              <a:ext uri="{FF2B5EF4-FFF2-40B4-BE49-F238E27FC236}">
                <a16:creationId xmlns:a16="http://schemas.microsoft.com/office/drawing/2014/main" id="{3C3F923E-56DD-44C7-A249-2EDC8E409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346974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41" name="직선 연결선 51"/>
          <p:cNvCxnSpPr>
            <a:stCxn xmlns:a="http://schemas.openxmlformats.org/drawingml/2006/main" id="50" idx="4"/>
            <a:endCxn xmlns:a="http://schemas.openxmlformats.org/drawingml/2006/main" id="51" idx="0"/>
          </p:cNvCxnSpPr>
          <p:nvPr/>
        </p:nvCxnSpPr>
        <p:spPr>
          <a:xfrm xmlns:a="http://schemas.openxmlformats.org/drawingml/2006/main" rot="0" flipH="0" flipV="0">
            <a:off x="8016324" y="3361824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3" name="타원 52">
            <a:extLst xmlns:a="http://schemas.openxmlformats.org/drawingml/2006/main">
              <a:ext uri="{FF2B5EF4-FFF2-40B4-BE49-F238E27FC236}">
                <a16:creationId xmlns:a16="http://schemas.microsoft.com/office/drawing/2014/main" id="{F3D80FDB-6EBA-47FF-ACA8-4A6F1AD93C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256799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54" name="타원 53">
            <a:extLst xmlns:a="http://schemas.openxmlformats.org/drawingml/2006/main">
              <a:ext uri="{FF2B5EF4-FFF2-40B4-BE49-F238E27FC236}">
                <a16:creationId xmlns:a16="http://schemas.microsoft.com/office/drawing/2014/main" id="{F5533F73-7CE7-403B-AA79-3E4866AE0D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256799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44" name="직선 연결선 54"/>
          <p:cNvCxnSpPr>
            <a:stCxn xmlns:a="http://schemas.openxmlformats.org/drawingml/2006/main" id="53" idx="4"/>
            <a:endCxn xmlns:a="http://schemas.openxmlformats.org/drawingml/2006/main" id="54" idx="0"/>
          </p:cNvCxnSpPr>
          <p:nvPr/>
        </p:nvCxnSpPr>
        <p:spPr>
          <a:xfrm xmlns:a="http://schemas.openxmlformats.org/drawingml/2006/main" rot="0" flipH="0" flipV="0">
            <a:off x="8016324" y="3271649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6" name="타원 55">
            <a:extLst xmlns:a="http://schemas.openxmlformats.org/drawingml/2006/main">
              <a:ext uri="{FF2B5EF4-FFF2-40B4-BE49-F238E27FC236}">
                <a16:creationId xmlns:a16="http://schemas.microsoft.com/office/drawing/2014/main" id="{EE8ED7CB-F4F2-41C4-9782-9DCB83EFA9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7986624" y="3171297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57" name="타원 56">
            <a:extLst xmlns:a="http://schemas.openxmlformats.org/drawingml/2006/main">
              <a:ext uri="{FF2B5EF4-FFF2-40B4-BE49-F238E27FC236}">
                <a16:creationId xmlns:a16="http://schemas.microsoft.com/office/drawing/2014/main" id="{1A355DAE-B639-44E7-8C05-4F06A87CE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16200000" flipH="0" flipV="0">
            <a:off x="8331583" y="3171297"/>
            <a:ext cx="29700" cy="29699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cxnSp>
        <p:nvCxnSpPr>
          <p:cNvPr id="147" name="직선 연결선 57"/>
          <p:cNvCxnSpPr>
            <a:stCxn xmlns:a="http://schemas.openxmlformats.org/drawingml/2006/main" id="56" idx="4"/>
            <a:endCxn xmlns:a="http://schemas.openxmlformats.org/drawingml/2006/main" id="57" idx="0"/>
          </p:cNvCxnSpPr>
          <p:nvPr/>
        </p:nvCxnSpPr>
        <p:spPr>
          <a:xfrm xmlns:a="http://schemas.openxmlformats.org/drawingml/2006/main" rot="0" flipH="0" flipV="0">
            <a:off x="8016324" y="3186147"/>
            <a:ext cx="315258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cxnSp>
      <p:sp>
        <p:nvSpPr>
          <p:cNvPr id="59" name="직사각형 58">
            <a:extLst xmlns:a="http://schemas.openxmlformats.org/drawingml/2006/main">
              <a:ext uri="{FF2B5EF4-FFF2-40B4-BE49-F238E27FC236}">
                <a16:creationId xmlns:a16="http://schemas.microsoft.com/office/drawing/2014/main" id="{44D40E4E-300F-4C6F-96CC-18722F6E8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096137" y="3122358"/>
            <a:ext cx="161288" cy="299301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60" name="직사각형 59">
            <a:extLst xmlns:a="http://schemas.openxmlformats.org/drawingml/2006/main">
              <a:ext uri="{FF2B5EF4-FFF2-40B4-BE49-F238E27FC236}">
                <a16:creationId xmlns:a16="http://schemas.microsoft.com/office/drawing/2014/main" id="{03196D2B-6472-42E2-90BC-CC77A1DD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8120953" y="3146364"/>
            <a:ext cx="110553" cy="24957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62" name="직선 연결선 61">
            <a:extLst xmlns:a="http://schemas.openxmlformats.org/drawingml/2006/main">
              <a:ext uri="{FF2B5EF4-FFF2-40B4-BE49-F238E27FC236}">
                <a16:creationId xmlns:a16="http://schemas.microsoft.com/office/drawing/2014/main" id="{7A7F5E96-C8AB-4FD7-B8A2-88E8B66665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43999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3" name="직선 연결선 62">
            <a:extLst xmlns:a="http://schemas.openxmlformats.org/drawingml/2006/main">
              <a:ext uri="{FF2B5EF4-FFF2-40B4-BE49-F238E27FC236}">
                <a16:creationId xmlns:a16="http://schemas.microsoft.com/office/drawing/2014/main" id="{36F6C95C-A0F5-4411-9869-C8800009D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50110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4" name="직선 연결선 63">
            <a:extLst xmlns:a="http://schemas.openxmlformats.org/drawingml/2006/main">
              <a:ext uri="{FF2B5EF4-FFF2-40B4-BE49-F238E27FC236}">
                <a16:creationId xmlns:a16="http://schemas.microsoft.com/office/drawing/2014/main" id="{5B7021B2-02CB-4631-9ADA-6BF0CDE8E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69915" y="4562219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9" name="직선 연결선 68">
            <a:extLst xmlns:a="http://schemas.openxmlformats.org/drawingml/2006/main">
              <a:ext uri="{FF2B5EF4-FFF2-40B4-BE49-F238E27FC236}">
                <a16:creationId xmlns:a16="http://schemas.microsoft.com/office/drawing/2014/main" id="{3848D803-9B10-4176-AB82-75606FD0F8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43999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0" name="직선 연결선 69">
            <a:extLst xmlns:a="http://schemas.openxmlformats.org/drawingml/2006/main">
              <a:ext uri="{FF2B5EF4-FFF2-40B4-BE49-F238E27FC236}">
                <a16:creationId xmlns:a16="http://schemas.microsoft.com/office/drawing/2014/main" id="{63EC388B-7518-4A66-A35C-004867AD4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501108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1" name="직선 연결선 70">
            <a:extLst xmlns:a="http://schemas.openxmlformats.org/drawingml/2006/main">
              <a:ext uri="{FF2B5EF4-FFF2-40B4-BE49-F238E27FC236}">
                <a16:creationId xmlns:a16="http://schemas.microsoft.com/office/drawing/2014/main" id="{EC9CB632-0F0A-4565-88A8-7FADC04B8A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371781" y="4562219"/>
            <a:ext cx="428203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66" name="모서리가 둥근 직사각형 65">
            <a:extLst xmlns:a="http://schemas.openxmlformats.org/drawingml/2006/main">
              <a:ext uri="{FF2B5EF4-FFF2-40B4-BE49-F238E27FC236}">
                <a16:creationId xmlns:a16="http://schemas.microsoft.com/office/drawing/2014/main" id="{E722B290-9EA3-4240-ADEC-5B3694682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57335" y="4373858"/>
            <a:ext cx="253628" cy="252911"/>
          </a:xfrm>
          <a:prstGeom xmlns:a="http://schemas.openxmlformats.org/drawingml/2006/main" prst="roundRect">
            <a:avLst>
              <a:gd name="adj" fmla="val 9890"/>
            </a:avLst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67" name="육각형 66">
            <a:extLst xmlns:a="http://schemas.openxmlformats.org/drawingml/2006/main">
              <a:ext uri="{FF2B5EF4-FFF2-40B4-BE49-F238E27FC236}">
                <a16:creationId xmlns:a16="http://schemas.microsoft.com/office/drawing/2014/main" id="{B4B08657-E8CD-473E-A07F-41E3E9CF4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9508" y="4421029"/>
            <a:ext cx="188595" cy="162000"/>
          </a:xfrm>
          <a:prstGeom xmlns:a="http://schemas.openxmlformats.org/drawingml/2006/main" prst="hexagon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68" name="다이아몬드 67">
            <a:extLst xmlns:a="http://schemas.openxmlformats.org/drawingml/2006/main">
              <a:ext uri="{FF2B5EF4-FFF2-40B4-BE49-F238E27FC236}">
                <a16:creationId xmlns:a16="http://schemas.microsoft.com/office/drawing/2014/main" id="{C67995F5-1A93-43E8-AFAB-F9D69592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30402" y="4446812"/>
            <a:ext cx="107893" cy="107893"/>
          </a:xfrm>
          <a:prstGeom xmlns:a="http://schemas.openxmlformats.org/drawingml/2006/main" prst="diamond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73" name="직선 연결선 72">
            <a:extLst xmlns:a="http://schemas.openxmlformats.org/drawingml/2006/main">
              <a:ext uri="{FF2B5EF4-FFF2-40B4-BE49-F238E27FC236}">
                <a16:creationId xmlns:a16="http://schemas.microsoft.com/office/drawing/2014/main" id="{7CEE3D91-8D8A-4189-A2A1-A05DF543F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03731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4" name="직선 연결선 73">
            <a:extLst xmlns:a="http://schemas.openxmlformats.org/drawingml/2006/main">
              <a:ext uri="{FF2B5EF4-FFF2-40B4-BE49-F238E27FC236}">
                <a16:creationId xmlns:a16="http://schemas.microsoft.com/office/drawing/2014/main" id="{5D297400-CC56-40A3-A166-90B480DE2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59452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5" name="직선 연결선 74">
            <a:extLst xmlns:a="http://schemas.openxmlformats.org/drawingml/2006/main">
              <a:ext uri="{FF2B5EF4-FFF2-40B4-BE49-F238E27FC236}">
                <a16:creationId xmlns:a16="http://schemas.microsoft.com/office/drawing/2014/main" id="{4467779C-CAB3-43D5-9B7D-F553FF572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14754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6" name="직선 연결선 75">
            <a:extLst xmlns:a="http://schemas.openxmlformats.org/drawingml/2006/main">
              <a:ext uri="{FF2B5EF4-FFF2-40B4-BE49-F238E27FC236}">
                <a16:creationId xmlns:a16="http://schemas.microsoft.com/office/drawing/2014/main" id="{630344FE-1538-4758-BA01-24DB9171D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70020" y="3673950"/>
            <a:ext cx="0" cy="434658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7" name="직사각형 76">
            <a:extLst xmlns:a="http://schemas.openxmlformats.org/drawingml/2006/main">
              <a:ext uri="{FF2B5EF4-FFF2-40B4-BE49-F238E27FC236}">
                <a16:creationId xmlns:a16="http://schemas.microsoft.com/office/drawing/2014/main" id="{857785C5-B49A-4C8D-B83E-34B858C753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8015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78" name="직사각형 77">
            <a:extLst xmlns:a="http://schemas.openxmlformats.org/drawingml/2006/main">
              <a:ext uri="{FF2B5EF4-FFF2-40B4-BE49-F238E27FC236}">
                <a16:creationId xmlns:a16="http://schemas.microsoft.com/office/drawing/2014/main" id="{2535CF10-9420-418E-B739-F0FF0AADE5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42813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79" name="직사각형 78">
            <a:extLst xmlns:a="http://schemas.openxmlformats.org/drawingml/2006/main">
              <a:ext uri="{FF2B5EF4-FFF2-40B4-BE49-F238E27FC236}">
                <a16:creationId xmlns:a16="http://schemas.microsoft.com/office/drawing/2014/main" id="{41E43D0C-BBE8-4D7E-A0EB-C67B3D4E16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97610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80" name="직사각형 79">
            <a:extLst xmlns:a="http://schemas.openxmlformats.org/drawingml/2006/main">
              <a:ext uri="{FF2B5EF4-FFF2-40B4-BE49-F238E27FC236}">
                <a16:creationId xmlns:a16="http://schemas.microsoft.com/office/drawing/2014/main" id="{5AE1E22F-EBE0-4753-AB96-EFF084DA8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652408" y="3746404"/>
            <a:ext cx="34289" cy="292194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81" name="타원 80">
            <a:extLst xmlns:a="http://schemas.openxmlformats.org/drawingml/2006/main">
              <a:ext uri="{FF2B5EF4-FFF2-40B4-BE49-F238E27FC236}">
                <a16:creationId xmlns:a16="http://schemas.microsoft.com/office/drawing/2014/main" id="{8151082C-D61D-41EE-8FB3-943BE974BE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488015" y="3792166"/>
            <a:ext cx="198682" cy="198681"/>
          </a:xfrm>
          <a:prstGeom xmlns:a="http://schemas.openxmlformats.org/drawingml/2006/main" prst="ellipse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82" name="타원 81">
            <a:extLst xmlns:a="http://schemas.openxmlformats.org/drawingml/2006/main">
              <a:ext uri="{FF2B5EF4-FFF2-40B4-BE49-F238E27FC236}">
                <a16:creationId xmlns:a16="http://schemas.microsoft.com/office/drawing/2014/main" id="{D5E3D08D-D528-4839-8373-16FDF4B49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rot="0" flipH="0" flipV="0">
            <a:off x="7521958" y="3826110"/>
            <a:ext cx="130795" cy="130794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BF0FF"/>
          </a:solidFill>
          <a:ln xmlns:a="http://schemas.openxmlformats.org/drawingml/2006/main">
            <a:solidFill>
              <a:schemeClr val="bg2">
                <a:lumMod val="90000"/>
              </a:schemeClr>
            </a:solidFill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 sz="1013"/>
          </a:p>
        </p:txBody>
      </p:sp>
      <p:sp>
        <p:nvSpPr>
          <p:cNvPr id="85" name="TextBox 84">
            <a:extLst xmlns:a="http://schemas.openxmlformats.org/drawingml/2006/main">
              <a:ext uri="{FF2B5EF4-FFF2-40B4-BE49-F238E27FC236}">
                <a16:creationId xmlns:a16="http://schemas.microsoft.com/office/drawing/2014/main" id="{FE797F21-4047-42F0-BC93-DF351F7696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58889" y="1820488"/>
            <a:ext cx="847898" cy="307777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400" b="1">
                <a:solidFill>
                  <a:srgbClr val="0000FF"/>
                </a:solidFill>
                <a:latin typeface="+mj-ea"/>
                <a:ea typeface="+mj-ea"/>
                <a:cs typeface="+mj-ea"/>
              </a:rPr>
              <a:t>Agenda</a:t>
            </a:r>
            <a:endParaRPr sz="1400" b="1">
              <a:solidFill>
                <a:srgbClr val="0000FF"/>
              </a:solidFill>
              <a:latin typeface="+mj-ea"/>
              <a:ea typeface="+mj-ea"/>
              <a:cs typeface="+mj-ea"/>
            </a:endParaRPr>
          </a:p>
        </p:txBody>
      </p:sp>
      <p:sp>
        <p:nvSpPr>
          <p:cNvPr id="86" name="직선 연결선 85">
            <a:extLst xmlns:a="http://schemas.openxmlformats.org/drawingml/2006/main">
              <a:ext uri="{FF2B5EF4-FFF2-40B4-BE49-F238E27FC236}">
                <a16:creationId xmlns:a16="http://schemas.microsoft.com/office/drawing/2014/main" id="{B06B848F-C940-4B56-B1B8-74BE614ECE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79838" y="1744280"/>
            <a:ext cx="711827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solidFill>
              <a:srgbClr val="0000FF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87" name="직선 연결선 86">
            <a:extLst xmlns:a="http://schemas.openxmlformats.org/drawingml/2006/main">
              <a:ext uri="{FF2B5EF4-FFF2-40B4-BE49-F238E27FC236}">
                <a16:creationId xmlns:a16="http://schemas.microsoft.com/office/drawing/2014/main" id="{A063777A-6026-4A78-9987-9A9C5A1E19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35285" y="1744280"/>
            <a:ext cx="2030922" cy="0"/>
          </a:xfrm>
          <a:prstGeom xmlns:a="http://schemas.openxmlformats.org/drawingml/2006/main" prst="line">
            <a:avLst/>
          </a:prstGeom>
          <a:ln xmlns:a="http://schemas.openxmlformats.org/drawingml/2006/main" w="63500">
            <a:solidFill>
              <a:schemeClr val="tx1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FCE2125F-D4AD-4019-B84B-98172F6F732F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3456797" y="1632164"/>
            <a:ext cx="3534855" cy="2814648"/>
          </a:xfrm>
        </p:spPr>
        <p:txBody>
          <a:bodyPr xmlns:a="http://schemas.openxmlformats.org/drawingml/2006/main">
            <a:normAutofit/>
          </a:bodyPr>
          <a:lstStyle xmlns:a="http://schemas.openxmlformats.org/drawingml/2006/main">
            <a:lvl1pPr marL="257175" indent="-257175">
              <a:lnSpc>
                <a:spcPct val="250000"/>
              </a:lnSpc>
              <a:buFont typeface="+mj-lt"/>
              <a:buAutoNum type="arabicPeriod"/>
              <a:defRPr sz="140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lvl="0">
              <a:buNone/>
            </a:pPr>
            <a:r>
              <a:t>Contents (</a:t>
            </a:r>
            <a:r>
              <a:t>맑은 고딕</a:t>
            </a:r>
            <a:r>
              <a:t>, 14)</a:t>
            </a:r>
          </a:p>
          <a:p xmlns:a="http://schemas.openxmlformats.org/drawingml/2006/main">
            <a:pPr lvl="0">
              <a:buNone/>
            </a:pPr>
            <a:r>
              <a:t>Contents (</a:t>
            </a:r>
            <a:r>
              <a:t>맑은 고딕</a:t>
            </a:r>
            <a:r>
              <a:t>, 14)</a:t>
            </a:r>
          </a:p>
          <a:p xmlns:a="http://schemas.openxmlformats.org/drawingml/2006/main">
            <a:pPr lvl="0">
              <a:buNone/>
            </a:pPr>
            <a:r>
              <a:t>Contents (</a:t>
            </a:r>
            <a:r>
              <a:t>맑은 고딕</a:t>
            </a:r>
            <a:r>
              <a:t>, 14)</a:t>
            </a:r>
          </a:p>
          <a:p xmlns:a="http://schemas.openxmlformats.org/drawingml/2006/main">
            <a:pPr lvl="0">
              <a:buNone/>
            </a:pPr>
            <a:r>
              <a:t>Contents (</a:t>
            </a:r>
            <a:r>
              <a:t>맑은 고딕</a:t>
            </a:r>
            <a:r>
              <a:t>, 14)</a:t>
            </a:r>
          </a:p>
        </p:txBody>
      </p:sp>
      <p:pic>
        <p:nvPicPr>
          <p:cNvPr id="173" name="그림 8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5b74a15cff5428b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91" name="TextBox 90">
            <a:extLst xmlns:a="http://schemas.openxmlformats.org/drawingml/2006/main">
              <a:ext uri="{FF2B5EF4-FFF2-40B4-BE49-F238E27FC236}">
                <a16:creationId xmlns:a16="http://schemas.microsoft.com/office/drawing/2014/main" id="{FDE9B86D-C4DD-4459-BF57-0E20DB5619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175" name="그림 93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d56ac0dea104e6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8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3EA84D00-49CD-49BA-AE28-C94B388CE37D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sp>
        <p:nvSpPr>
          <p:cNvPr id="88" name="TextBox 4">
            <a:extLst xmlns:a="http://schemas.openxmlformats.org/drawingml/2006/main">
              <a:ext uri="{FF2B5EF4-FFF2-40B4-BE49-F238E27FC236}">
                <a16:creationId xmlns:a16="http://schemas.microsoft.com/office/drawing/2014/main" id="{93531F61-4082-4081-915F-FE982AFC3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815579"/>
            <a:ext cx="554355" cy="230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70" tIns="34284" rIns="68570" bIns="34284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685767">
              <a:spcBef>
                <a:spcPct val="0"/>
              </a:spcBef>
              <a:spcAft>
                <a:spcPct val="0"/>
              </a:spcAft>
              <a:buNone/>
            </a:pPr>
            <a:fld id="{F445441D-5648-4C4E-924F-9D5109CAF161}" type="slidenum">
              <a:rPr sz="1050" b="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‹#›</a:t>
            </a:fld>
            <a:r>
              <a:rPr sz="1050" b="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/7</a:t>
            </a:r>
            <a:endParaRPr sz="1050" b="0">
              <a:solidFill>
                <a:schemeClr val="bg1">
                  <a:lumMod val="65000"/>
                </a:schemeClr>
              </a:solidFill>
              <a:latin typeface="+mj-lt"/>
              <a:ea typeface="+mj-lt"/>
              <a:cs typeface="+mj-lt"/>
            </a:endParaRPr>
          </a:p>
        </p:txBody>
      </p:sp>
    </p:spTree>
  </p:cSld>
</p:sldLayout>
</file>

<file path=ppt/slideLayouts/slideLayout3.xml><?xml version="1.0" encoding="utf-8"?>
<p:sldLayout xmlns:p="http://schemas.openxmlformats.org/presentationml/2006/main" userDrawn="1">
  <p:cSld name="2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graphicFrame>
        <p:nvGraphicFramePr>
          <p:cNvPr id="45" name="표 24"/>
          <p:cNvGraphicFramePr/>
          <p:nvPr/>
        </p:nvGraphicFramePr>
        <p:xfrm>
          <a:off xmlns:a="http://schemas.openxmlformats.org/drawingml/2006/main" x="283845" y="822484"/>
          <a:ext xmlns:a="http://schemas.openxmlformats.org/drawingml/2006/main" cx="8563425" cy="4021444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99210"/>
                <a:gridCol w="7264215"/>
              </a:tblGrid>
              <a:tr h="583406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0007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588645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155547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r>
                        <a:rPr sz="1100" b="0">
                          <a:solidFill>
                            <a:schemeClr val="tx1"/>
                          </a:solidFill>
                        </a:rPr>
                        <a:t> </a:t>
                      </a: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25268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1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41A2B59-5D2A-4D83-BE4A-75EA2060D95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657350" y="836332"/>
            <a:ext cx="7083029" cy="58076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marR="0" indent="-180000" algn="l" defTabSz="68580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/>
              <a:buChar char="ᆞ"/>
              <a:defRPr sz="1100"/>
            </a:lvl1pPr>
          </a:lstStyle>
          <a:p xmlns:a="http://schemas.openxmlformats.org/drawingml/2006/main">
            <a:pPr marL="214313" marR="0" lvl="0" indent="-214313" algn="l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None/>
            </a:pPr>
            <a:r>
              <a:t>본 보고</a:t>
            </a:r>
            <a:r>
              <a:t>(</a:t>
            </a:r>
            <a:r>
              <a:t>또는 회의</a:t>
            </a:r>
            <a:r>
              <a:t>)</a:t>
            </a:r>
            <a:r>
              <a:t>의 목적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marL="214313" marR="0" lvl="0" indent="-214313" algn="l" defTabSz="685800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None/>
            </a:pPr>
            <a:r>
              <a:t>본 보고</a:t>
            </a:r>
            <a:r>
              <a:t>(</a:t>
            </a:r>
            <a:r>
              <a:t>또는 회의</a:t>
            </a:r>
            <a:r>
              <a:t>)</a:t>
            </a:r>
            <a:r>
              <a:t>의 목적</a:t>
            </a:r>
            <a:endParaRPr/>
          </a:p>
        </p:txBody>
      </p:sp>
      <p:sp>
        <p:nvSpPr>
          <p:cNvPr id="3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9CC2DD1-FC34-43FB-89A3-5A1EEDF60370}"/>
              </a:ext>
            </a:extLst>
          </p:cNvPr>
          <p:cNvSpPr>
            <a:spLocks xmlns:a="http://schemas.openxmlformats.org/drawingml/2006/main" noGrp="1"/>
          </p:cNvSpPr>
          <p:nvPr>
            <p:ph type="body" idx="11" hasCustomPrompt="1"/>
          </p:nvPr>
        </p:nvSpPr>
        <p:spPr>
          <a:xfrm xmlns:a="http://schemas.openxmlformats.org/drawingml/2006/main">
            <a:off x="1657350" y="1417098"/>
            <a:ext cx="7083029" cy="590844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현황 및 문제점 </a:t>
            </a:r>
            <a:r>
              <a:t>(</a:t>
            </a:r>
            <a:r>
              <a:t>맑은 고딕</a:t>
            </a:r>
            <a:r>
              <a:t>, 11)</a:t>
            </a:r>
            <a:endParaRPr/>
          </a:p>
          <a:p xmlns:a="http://schemas.openxmlformats.org/drawingml/2006/main">
            <a:pPr lvl="0">
              <a:buNone/>
            </a:pPr>
            <a:r>
              <a:t>현황 및 문제점</a:t>
            </a:r>
            <a:endParaRPr/>
          </a:p>
        </p:txBody>
      </p:sp>
      <p:sp>
        <p:nvSpPr>
          <p:cNvPr id="40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C77DA1E-2846-49E7-BE55-762B4CB00D5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1656150" y="2007942"/>
            <a:ext cx="7083029" cy="580766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결론 및 제언 </a:t>
            </a:r>
            <a:r>
              <a:t>(</a:t>
            </a:r>
            <a:r>
              <a:t>맑은 고딕</a:t>
            </a:r>
            <a:r>
              <a:t>, 11)</a:t>
            </a:r>
            <a:endParaRPr/>
          </a:p>
          <a:p xmlns:a="http://schemas.openxmlformats.org/drawingml/2006/main">
            <a:pPr lvl="0">
              <a:buNone/>
            </a:pPr>
            <a:r>
              <a:t>결론 및 제언</a:t>
            </a:r>
            <a:endParaRPr/>
          </a:p>
        </p:txBody>
      </p:sp>
      <p:sp>
        <p:nvSpPr>
          <p:cNvPr id="4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93F84953-26DC-4A6E-9AE1-D31B604B13D1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56150" y="2598786"/>
            <a:ext cx="7083029" cy="31830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주요 내용 요약</a:t>
            </a:r>
            <a:r>
              <a:t> (</a:t>
            </a:r>
            <a:r>
              <a:t>맑은 고딕</a:t>
            </a:r>
            <a:r>
              <a:t>, 11)</a:t>
            </a:r>
            <a:endParaRPr/>
          </a:p>
        </p:txBody>
      </p:sp>
      <p:pic>
        <p:nvPicPr>
          <p:cNvPr id="50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d5457538a7466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22" name="TextBox 21">
            <a:extLst xmlns:a="http://schemas.openxmlformats.org/drawingml/2006/main">
              <a:ext uri="{FF2B5EF4-FFF2-40B4-BE49-F238E27FC236}">
                <a16:creationId xmlns:a16="http://schemas.microsoft.com/office/drawing/2014/main" id="{2EA37A2D-BCF2-4E6C-8607-DAAC4570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21134B2-416E-42D3-AE0C-6F048EEB5793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1881087" y="2917094"/>
            <a:ext cx="6858091" cy="48704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214313" marR="0" indent="-180000" algn="l" defTabSz="68580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/>
              <a:buChar char="ￚ"/>
              <a:defRPr sz="900"/>
            </a:lvl1pPr>
          </a:lstStyle>
          <a:p xmlns:a="http://schemas.openxmlformats.org/drawingml/2006/main">
            <a:pPr lvl="0">
              <a:buNone/>
            </a:pPr>
            <a:r>
              <a:t>주요 내용 요약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주요 내용 요약</a:t>
            </a: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  <p:sp>
        <p:nvSpPr>
          <p:cNvPr id="27" name="직선 연결선 26">
            <a:extLst xmlns:a="http://schemas.openxmlformats.org/drawingml/2006/main">
              <a:ext uri="{FF2B5EF4-FFF2-40B4-BE49-F238E27FC236}">
                <a16:creationId xmlns:a16="http://schemas.microsoft.com/office/drawing/2014/main" id="{6F62E456-6092-4FF8-895B-613D05585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2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39FFC56C-5548-4788-B452-8FBBCA6B8D1A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1656148" y="4228891"/>
            <a:ext cx="7083029" cy="62511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향후 계획 </a:t>
            </a:r>
            <a:r>
              <a:t>(</a:t>
            </a:r>
            <a:r>
              <a:t>맑은 고딕</a:t>
            </a:r>
            <a:r>
              <a:t>, 11)</a:t>
            </a:r>
            <a:endParaRPr/>
          </a:p>
          <a:p xmlns:a="http://schemas.openxmlformats.org/drawingml/2006/main">
            <a:pPr lvl="0">
              <a:buNone/>
            </a:pPr>
            <a:r>
              <a:t>향후 계획</a:t>
            </a:r>
            <a:endParaRPr/>
          </a:p>
        </p:txBody>
      </p:sp>
      <p:sp>
        <p:nvSpPr>
          <p:cNvPr id="2" name="TextBox 1">
            <a:extLst xmlns:a="http://schemas.openxmlformats.org/drawingml/2006/main">
              <a:ext uri="{FF2B5EF4-FFF2-40B4-BE49-F238E27FC236}">
                <a16:creationId xmlns:a16="http://schemas.microsoft.com/office/drawing/2014/main" id="{D70CE433-1033-43B7-A9F1-0134DA89EC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96139"/>
            <a:ext cx="8648129" cy="577081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21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Summary</a:t>
            </a:r>
            <a:endParaRPr sz="2100" b="1"/>
          </a:p>
        </p:txBody>
      </p:sp>
      <p:sp>
        <p:nvSpPr>
          <p:cNvPr id="29" name="TextBox 28">
            <a:extLst xmlns:a="http://schemas.openxmlformats.org/drawingml/2006/main">
              <a:ext uri="{FF2B5EF4-FFF2-40B4-BE49-F238E27FC236}">
                <a16:creationId xmlns:a16="http://schemas.microsoft.com/office/drawing/2014/main" id="{486F0BDF-680F-4100-B9BC-D7F598F01E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9" y="949670"/>
            <a:ext cx="12854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보고</a:t>
            </a: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(</a:t>
            </a: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회의</a:t>
            </a: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) </a:t>
            </a: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목적</a:t>
            </a:r>
            <a:endParaRPr sz="1200" b="1"/>
          </a:p>
        </p:txBody>
      </p:sp>
      <p:sp>
        <p:nvSpPr>
          <p:cNvPr id="30" name="TextBox 29">
            <a:extLst xmlns:a="http://schemas.openxmlformats.org/drawingml/2006/main">
              <a:ext uri="{FF2B5EF4-FFF2-40B4-BE49-F238E27FC236}">
                <a16:creationId xmlns:a16="http://schemas.microsoft.com/office/drawing/2014/main" id="{A5B5B464-264F-441A-B8F9-75945E999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9" y="1523619"/>
            <a:ext cx="12854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현황 및 문제점</a:t>
            </a:r>
            <a:endParaRPr sz="1200" b="1"/>
          </a:p>
        </p:txBody>
      </p:sp>
      <p:sp>
        <p:nvSpPr>
          <p:cNvPr id="31" name="TextBox 30">
            <a:extLst xmlns:a="http://schemas.openxmlformats.org/drawingml/2006/main">
              <a:ext uri="{FF2B5EF4-FFF2-40B4-BE49-F238E27FC236}">
                <a16:creationId xmlns:a16="http://schemas.microsoft.com/office/drawing/2014/main" id="{0C5B0A24-50B0-40B7-AE8E-B6203A5B3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9" y="2118234"/>
            <a:ext cx="12854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결론 및 제언</a:t>
            </a:r>
            <a:endParaRPr sz="1200" b="1"/>
          </a:p>
        </p:txBody>
      </p:sp>
      <p:sp>
        <p:nvSpPr>
          <p:cNvPr id="34" name="TextBox 33">
            <a:extLst xmlns:a="http://schemas.openxmlformats.org/drawingml/2006/main">
              <a:ext uri="{FF2B5EF4-FFF2-40B4-BE49-F238E27FC236}">
                <a16:creationId xmlns:a16="http://schemas.microsoft.com/office/drawing/2014/main" id="{CC5608DF-39AA-46FF-BFD8-6718E62CE8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9" y="3155357"/>
            <a:ext cx="12854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주요 내용</a:t>
            </a:r>
            <a:endParaRPr sz="1200" b="1"/>
          </a:p>
        </p:txBody>
      </p:sp>
      <p:sp>
        <p:nvSpPr>
          <p:cNvPr id="35" name="TextBox 34">
            <a:extLst xmlns:a="http://schemas.openxmlformats.org/drawingml/2006/main">
              <a:ext uri="{FF2B5EF4-FFF2-40B4-BE49-F238E27FC236}">
                <a16:creationId xmlns:a16="http://schemas.microsoft.com/office/drawing/2014/main" id="{D78BFC24-73E7-4919-80E6-8D7628B27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4739" y="4351345"/>
            <a:ext cx="1285490" cy="369332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200" b="1" i="0" u="none" cap="none" spc="0">
                <a:ln>
                  <a:noFill/>
                </a:ln>
                <a:solidFill>
                  <a:prstClr val="black"/>
                </a:solidFill>
                <a:latin typeface="맑은 고딕"/>
                <a:ea typeface="맑은 고딕"/>
                <a:cs typeface="맑은 고딕"/>
              </a:rPr>
              <a:t>향후 계획</a:t>
            </a:r>
            <a:endParaRPr sz="1200" b="1"/>
          </a:p>
        </p:txBody>
      </p:sp>
      <p:pic>
        <p:nvPicPr>
          <p:cNvPr id="61" name="그림 3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f2d578409b4235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32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AF1F467D-666D-40A5-A772-F7B1AD1B011D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sp>
        <p:nvSpPr>
          <p:cNvPr id="36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CDF001E1-9517-4ADA-9BEF-35C9E602FFA1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1656150" y="3414217"/>
            <a:ext cx="7083029" cy="318307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주요 내용 요약</a:t>
            </a:r>
            <a:r>
              <a:t> (</a:t>
            </a:r>
            <a:r>
              <a:t>맑은 고딕</a:t>
            </a:r>
            <a:r>
              <a:t>, 11)</a:t>
            </a:r>
            <a:endParaRPr/>
          </a:p>
        </p:txBody>
      </p:sp>
      <p:sp>
        <p:nvSpPr>
          <p:cNvPr id="3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30C174F9-2746-41D6-9EB7-A573D8F48232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1881087" y="3732525"/>
            <a:ext cx="6858091" cy="487046"/>
          </a:xfrm>
        </p:spPr>
        <p:txBody>
          <a:bodyPr xmlns:a="http://schemas.openxmlformats.org/drawingml/2006/main" anchor="t">
            <a:normAutofit/>
          </a:bodyPr>
          <a:lstStyle xmlns:a="http://schemas.openxmlformats.org/drawingml/2006/main">
            <a:lvl1pPr marL="214313" marR="0" indent="-180000" algn="l" defTabSz="685800">
              <a:lnSpc>
                <a:spcPct val="120000"/>
              </a:lnSpc>
              <a:spcBef>
                <a:spcPts val="750"/>
              </a:spcBef>
              <a:spcAft>
                <a:spcPts val="0"/>
              </a:spcAft>
              <a:buClrTx/>
              <a:buSzTx/>
              <a:buFont typeface="맑은 고딕"/>
              <a:buChar char="ￚ"/>
              <a:defRPr sz="900"/>
            </a:lvl1pPr>
          </a:lstStyle>
          <a:p xmlns:a="http://schemas.openxmlformats.org/drawingml/2006/main">
            <a:pPr lvl="0">
              <a:buNone/>
            </a:pPr>
            <a:r>
              <a:t>주요 내용 요약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주요 내용 요약</a:t>
            </a:r>
            <a:endParaRPr/>
          </a:p>
          <a:p xmlns:a="http://schemas.openxmlformats.org/drawingml/2006/main">
            <a:pPr lvl="0">
              <a:buNone/>
            </a:pPr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userDrawn="1">
  <p:cSld name="3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제목 3">
            <a:extLst xmlns:a="http://schemas.openxmlformats.org/drawingml/2006/main">
              <a:ext uri="{FF2B5EF4-FFF2-40B4-BE49-F238E27FC236}">
                <a16:creationId xmlns:a16="http://schemas.microsoft.com/office/drawing/2014/main" id="{56CA7F58-6F7D-4D9B-8B59-919D86E06472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141" y="229061"/>
            <a:ext cx="7886700" cy="4197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indent="-270000">
              <a:lnSpc>
                <a:spcPct val="120000"/>
              </a:lnSpc>
              <a:buNone/>
              <a:defRPr sz="2000" b="1"/>
            </a:lvl1pPr>
          </a:lstStyle>
          <a:p xmlns:a="http://schemas.openxmlformats.org/drawingml/2006/main">
            <a:r>
              <a:t>본문 제목</a:t>
            </a:r>
            <a:r>
              <a:t> (</a:t>
            </a:r>
            <a:r>
              <a:t>맑은 고딕 </a:t>
            </a:r>
            <a:r>
              <a:t>Bold, 20)</a:t>
            </a:r>
            <a:endParaRPr/>
          </a:p>
        </p:txBody>
      </p:sp>
      <p:pic>
        <p:nvPicPr>
          <p:cNvPr id="26" name="그림 3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34f4adc494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22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682AA3DE-492B-4B11-B500-A3114D2CD6DE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7134" y="661281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  <p:sp>
        <p:nvSpPr>
          <p:cNvPr id="14" name="직선 연결선 13">
            <a:extLst xmlns:a="http://schemas.openxmlformats.org/drawingml/2006/main">
              <a:ext uri="{FF2B5EF4-FFF2-40B4-BE49-F238E27FC236}">
                <a16:creationId xmlns:a16="http://schemas.microsoft.com/office/drawing/2014/main" id="{EBB57283-19CF-4479-9569-C6F5E38E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15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2082099C-284B-4CF9-94FA-07EFE017A954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35043" y="1080991"/>
            <a:ext cx="8387953" cy="64611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  <a:endParaRPr/>
          </a:p>
        </p:txBody>
      </p:sp>
      <p:sp>
        <p:nvSpPr>
          <p:cNvPr id="16" name="TextBox 15">
            <a:extLst xmlns:a="http://schemas.openxmlformats.org/drawingml/2006/main">
              <a:ext uri="{FF2B5EF4-FFF2-40B4-BE49-F238E27FC236}">
                <a16:creationId xmlns:a16="http://schemas.microsoft.com/office/drawing/2014/main" id="{FE2E52E4-7BFF-4E48-8F6E-816B3A9D1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31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88a776fc7214aa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1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17E0E5D-64BC-4372-BE13-E59EDDC6BB6D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userDrawn="1">
  <p:cSld name="6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9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0142d2bbdc41fa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33" name="직선 연결선 32">
            <a:extLst xmlns:a="http://schemas.openxmlformats.org/drawingml/2006/main">
              <a:ext uri="{FF2B5EF4-FFF2-40B4-BE49-F238E27FC236}">
                <a16:creationId xmlns:a16="http://schemas.microsoft.com/office/drawing/2014/main" id="{865EBBF2-93D9-4ECF-ADC3-FA3F1E92FB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1A8D5EE2-F2A8-46A9-AE87-14D01867E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2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3a6336c1554437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2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E0F5777C-9A78-4AF7-83E3-D6F9C50C9B7B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sp>
        <p:nvSpPr>
          <p:cNvPr id="11" name="제목 3">
            <a:extLst xmlns:a="http://schemas.openxmlformats.org/drawingml/2006/main">
              <a:ext uri="{FF2B5EF4-FFF2-40B4-BE49-F238E27FC236}">
                <a16:creationId xmlns:a16="http://schemas.microsoft.com/office/drawing/2014/main" id="{62A418B1-96BD-425F-B17D-F1990D0F5CB0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141" y="229061"/>
            <a:ext cx="7886700" cy="4197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indent="-270000">
              <a:lnSpc>
                <a:spcPct val="120000"/>
              </a:lnSpc>
              <a:buNone/>
              <a:defRPr sz="2000" b="1"/>
            </a:lvl1pPr>
          </a:lstStyle>
          <a:p xmlns:a="http://schemas.openxmlformats.org/drawingml/2006/main">
            <a:r>
              <a:t>본문 제목</a:t>
            </a:r>
            <a:r>
              <a:t> (</a:t>
            </a:r>
            <a:r>
              <a:t>맑은 고딕 </a:t>
            </a:r>
            <a:r>
              <a:t>Bold, 20)</a:t>
            </a:r>
            <a:endParaRPr/>
          </a:p>
        </p:txBody>
      </p:sp>
      <p:sp>
        <p:nvSpPr>
          <p:cNvPr id="12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7082AB1-E0D0-443C-990A-452C10BF6380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7134" y="661281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  <p:sp>
        <p:nvSpPr>
          <p:cNvPr id="1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D9B31DE3-D95A-4878-A31D-91271C5DB438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35043" y="1080991"/>
            <a:ext cx="8387953" cy="64611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  <a:endParaRPr/>
          </a:p>
        </p:txBody>
      </p:sp>
      <p:sp>
        <p:nvSpPr>
          <p:cNvPr id="14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9E3F940-15A1-402C-B0E7-D500E11D420E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134" y="1733842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preserve="1" userDrawn="1">
  <p:cSld name="7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0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45bc2b072c4f2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33" name="직선 연결선 32">
            <a:extLst xmlns:a="http://schemas.openxmlformats.org/drawingml/2006/main">
              <a:ext uri="{FF2B5EF4-FFF2-40B4-BE49-F238E27FC236}">
                <a16:creationId xmlns:a16="http://schemas.microsoft.com/office/drawing/2014/main" id="{E0723367-7AE0-40D2-9FB8-648B4A1910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3F7C06D9-D81D-4645-9BB9-C2A91947A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3" name="그림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f9d44bb6b6a4ed9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2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8647C0F1-5636-45E3-8EDD-CB51D314746E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graphicFrame>
        <p:nvGraphicFramePr>
          <p:cNvPr id="55" name="표 10"/>
          <p:cNvGraphicFramePr/>
          <p:nvPr/>
        </p:nvGraphicFramePr>
        <p:xfrm>
          <a:off xmlns:a="http://schemas.openxmlformats.org/drawingml/2006/main" x="353247" y="2224178"/>
          <a:ext xmlns:a="http://schemas.openxmlformats.org/drawingml/2006/main" cx="4934463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240"/>
                <a:gridCol w="369122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8AEABCCD-FC38-42EA-A99C-B34C299A94F0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607735" y="2224178"/>
            <a:ext cx="3422602" cy="61655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1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CCCB89C-0B86-4810-A01C-CC43AF98E88F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84449" y="2247797"/>
            <a:ext cx="1177839" cy="559194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spcBef>
                <a:spcPts val="600"/>
              </a:spcBef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r>
              <a:rPr sz="1200" b="1">
                <a:solidFill>
                  <a:schemeClr val="tx1"/>
                </a:solidFill>
              </a:rPr>
              <a:t/>
            </a:r>
            <a:br/>
            <a:r>
              <a:rPr sz="1200" b="1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1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D4E0B00-1197-47CD-AFF1-0305D60CAF9D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384449" y="2852211"/>
            <a:ext cx="1177839" cy="57085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025B2F2-77A4-4206-BDCC-A11BD4F1D59E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384450" y="3461089"/>
            <a:ext cx="1177839" cy="60513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81545C7-77F1-4016-8D75-51BB80074BAB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384450" y="4077167"/>
            <a:ext cx="1177839" cy="59815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9ECF248D-9811-4A49-AD67-4D7FC653A217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1607735" y="2840734"/>
            <a:ext cx="3434203" cy="609562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21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CE7017A-DE68-4000-8447-7367FBACC500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607735" y="3457289"/>
            <a:ext cx="3422602" cy="61987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2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C786D988-CCD1-4D08-8DE2-4A6334E66E97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1607735" y="4066222"/>
            <a:ext cx="3422602" cy="61608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20" name="제목 3">
            <a:extLst xmlns:a="http://schemas.openxmlformats.org/drawingml/2006/main">
              <a:ext uri="{FF2B5EF4-FFF2-40B4-BE49-F238E27FC236}">
                <a16:creationId xmlns:a16="http://schemas.microsoft.com/office/drawing/2014/main" id="{A9E4595A-E98D-46A3-A0BD-B60DE1DF7E9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141" y="229061"/>
            <a:ext cx="7886700" cy="4197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indent="-270000">
              <a:lnSpc>
                <a:spcPct val="120000"/>
              </a:lnSpc>
              <a:buNone/>
              <a:defRPr sz="2000" b="1"/>
            </a:lvl1pPr>
          </a:lstStyle>
          <a:p xmlns:a="http://schemas.openxmlformats.org/drawingml/2006/main">
            <a:r>
              <a:t>본문 제목</a:t>
            </a:r>
            <a:r>
              <a:t> (</a:t>
            </a:r>
            <a:r>
              <a:t>맑은 고딕 </a:t>
            </a:r>
            <a:r>
              <a:t>Bold, 20)</a:t>
            </a:r>
            <a:endParaRPr/>
          </a:p>
        </p:txBody>
      </p:sp>
      <p:sp>
        <p:nvSpPr>
          <p:cNvPr id="2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A5E46413-A704-4313-8F47-4837CA4D534D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7134" y="661281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  <p:sp>
        <p:nvSpPr>
          <p:cNvPr id="2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1CADCEA-F392-415A-894A-80CA3FAAC1D2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35043" y="1080991"/>
            <a:ext cx="8387953" cy="64611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  <a:endParaRPr/>
          </a:p>
        </p:txBody>
      </p:sp>
      <p:sp>
        <p:nvSpPr>
          <p:cNvPr id="3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F7C3D5E-D3E4-4D22-BBA3-EFF7487AEC6A}"/>
              </a:ext>
            </a:extLst>
          </p:cNvPr>
          <p:cNvSpPr>
            <a:spLocks xmlns:a="http://schemas.openxmlformats.org/drawingml/2006/main" noGrp="1"/>
          </p:cNvSpPr>
          <p:nvPr>
            <p:ph type="body" idx="39" hasCustomPrompt="1"/>
          </p:nvPr>
        </p:nvSpPr>
        <p:spPr>
          <a:xfrm xmlns:a="http://schemas.openxmlformats.org/drawingml/2006/main">
            <a:off x="187134" y="1733842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userDrawn="1">
  <p:cSld name="4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52" name="그림 1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4805d63647941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33" name="직선 연결선 32">
            <a:extLst xmlns:a="http://schemas.openxmlformats.org/drawingml/2006/main">
              <a:ext uri="{FF2B5EF4-FFF2-40B4-BE49-F238E27FC236}">
                <a16:creationId xmlns:a16="http://schemas.microsoft.com/office/drawing/2014/main" id="{0F5734E8-2E3F-4965-A86D-C736A513D5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46" name="TextBox 45">
            <a:extLst xmlns:a="http://schemas.openxmlformats.org/drawingml/2006/main">
              <a:ext uri="{FF2B5EF4-FFF2-40B4-BE49-F238E27FC236}">
                <a16:creationId xmlns:a16="http://schemas.microsoft.com/office/drawing/2014/main" id="{70EEC25F-77A0-4ECC-9CF1-FCA8221B87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55" name="그림 4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56733a4ba724b7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4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F50EC182-DC57-4CBF-AED2-C1EF84F9A691}"/>
              </a:ext>
            </a:extLst>
          </p:cNvPr>
          <p:cNvSpPr>
            <a:spLocks xmlns:a="http://schemas.openxmlformats.org/drawingml/2006/main" noGrp="1"/>
          </p:cNvSpPr>
          <p:nvPr>
            <p:ph type="body" idx="44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graphicFrame>
        <p:nvGraphicFramePr>
          <p:cNvPr id="57" name="표 10"/>
          <p:cNvGraphicFramePr/>
          <p:nvPr/>
        </p:nvGraphicFramePr>
        <p:xfrm>
          <a:off xmlns:a="http://schemas.openxmlformats.org/drawingml/2006/main" x="353247" y="2166578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29855A11-96A2-4E84-8F00-807F84E8663B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1417685" y="2166578"/>
            <a:ext cx="2838184" cy="58551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1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38D24BD-792A-4B28-8D47-83FE24DE5C8E}"/>
              </a:ext>
            </a:extLst>
          </p:cNvPr>
          <p:cNvSpPr>
            <a:spLocks xmlns:a="http://schemas.openxmlformats.org/drawingml/2006/main" noGrp="1"/>
          </p:cNvSpPr>
          <p:nvPr>
            <p:ph type="body" idx="28" hasCustomPrompt="1"/>
          </p:nvPr>
        </p:nvSpPr>
        <p:spPr>
          <a:xfrm xmlns:a="http://schemas.openxmlformats.org/drawingml/2006/main">
            <a:off x="381207" y="2166578"/>
            <a:ext cx="994589" cy="6261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r>
              <a:rPr sz="1200" b="1">
                <a:solidFill>
                  <a:schemeClr val="tx1"/>
                </a:solidFill>
              </a:rPr>
              <a:t/>
            </a:r>
            <a:br/>
            <a:r>
              <a:rPr sz="1200" b="1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1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B97AE15-7564-4386-B09F-0E385BC3ABE9}"/>
              </a:ext>
            </a:extLst>
          </p:cNvPr>
          <p:cNvSpPr>
            <a:spLocks xmlns:a="http://schemas.openxmlformats.org/drawingml/2006/main" noGrp="1"/>
          </p:cNvSpPr>
          <p:nvPr>
            <p:ph type="body" idx="29" hasCustomPrompt="1"/>
          </p:nvPr>
        </p:nvSpPr>
        <p:spPr>
          <a:xfrm xmlns:a="http://schemas.openxmlformats.org/drawingml/2006/main">
            <a:off x="381207" y="2792689"/>
            <a:ext cx="991441" cy="61113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FB908A2-90BC-4387-AE94-2BBAA45750BA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384355" y="3429354"/>
            <a:ext cx="991441" cy="5496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08836BDE-8BD1-4A09-96EA-6AB5743282D5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381207" y="4026771"/>
            <a:ext cx="991441" cy="575144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graphicFrame>
        <p:nvGraphicFramePr>
          <p:cNvPr id="63" name="표 20"/>
          <p:cNvGraphicFramePr/>
          <p:nvPr/>
        </p:nvGraphicFramePr>
        <p:xfrm>
          <a:off xmlns:a="http://schemas.openxmlformats.org/drawingml/2006/main" x="4652133" y="2166578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01B67AC-3D3C-4C4D-B75F-61DBDDEE0F0E}"/>
              </a:ext>
            </a:extLst>
          </p:cNvPr>
          <p:cNvSpPr>
            <a:spLocks xmlns:a="http://schemas.openxmlformats.org/drawingml/2006/main" noGrp="1"/>
          </p:cNvSpPr>
          <p:nvPr>
            <p:ph type="body" idx="45" hasCustomPrompt="1"/>
          </p:nvPr>
        </p:nvSpPr>
        <p:spPr>
          <a:xfrm xmlns:a="http://schemas.openxmlformats.org/drawingml/2006/main">
            <a:off x="1417685" y="2792688"/>
            <a:ext cx="2838184" cy="60099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35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A1C6F388-CE5E-4D18-8E1D-12B1EB4CD005}"/>
              </a:ext>
            </a:extLst>
          </p:cNvPr>
          <p:cNvSpPr>
            <a:spLocks xmlns:a="http://schemas.openxmlformats.org/drawingml/2006/main" noGrp="1"/>
          </p:cNvSpPr>
          <p:nvPr>
            <p:ph type="body" idx="46" hasCustomPrompt="1"/>
          </p:nvPr>
        </p:nvSpPr>
        <p:spPr>
          <a:xfrm xmlns:a="http://schemas.openxmlformats.org/drawingml/2006/main">
            <a:off x="1417685" y="3393683"/>
            <a:ext cx="2838184" cy="58528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3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4B14066D-3C97-4214-A267-14C7E94454F9}"/>
              </a:ext>
            </a:extLst>
          </p:cNvPr>
          <p:cNvSpPr>
            <a:spLocks xmlns:a="http://schemas.openxmlformats.org/drawingml/2006/main" noGrp="1"/>
          </p:cNvSpPr>
          <p:nvPr>
            <p:ph type="body" idx="47" hasCustomPrompt="1"/>
          </p:nvPr>
        </p:nvSpPr>
        <p:spPr>
          <a:xfrm xmlns:a="http://schemas.openxmlformats.org/drawingml/2006/main">
            <a:off x="1417685" y="4004499"/>
            <a:ext cx="2838184" cy="61321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3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A83A435-AD0D-424D-8916-35A823579076}"/>
              </a:ext>
            </a:extLst>
          </p:cNvPr>
          <p:cNvSpPr>
            <a:spLocks xmlns:a="http://schemas.openxmlformats.org/drawingml/2006/main" noGrp="1"/>
          </p:cNvSpPr>
          <p:nvPr>
            <p:ph type="body" idx="48" hasCustomPrompt="1"/>
          </p:nvPr>
        </p:nvSpPr>
        <p:spPr>
          <a:xfrm xmlns:a="http://schemas.openxmlformats.org/drawingml/2006/main">
            <a:off x="5712790" y="2166578"/>
            <a:ext cx="2838184" cy="585518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38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F3694A05-D12A-4916-87F0-7CEDC0AC9078}"/>
              </a:ext>
            </a:extLst>
          </p:cNvPr>
          <p:cNvSpPr>
            <a:spLocks xmlns:a="http://schemas.openxmlformats.org/drawingml/2006/main" noGrp="1"/>
          </p:cNvSpPr>
          <p:nvPr>
            <p:ph type="body" idx="49" hasCustomPrompt="1"/>
          </p:nvPr>
        </p:nvSpPr>
        <p:spPr>
          <a:xfrm xmlns:a="http://schemas.openxmlformats.org/drawingml/2006/main">
            <a:off x="4676312" y="2166578"/>
            <a:ext cx="994589" cy="63982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r>
              <a:rPr sz="1200" b="1">
                <a:solidFill>
                  <a:schemeClr val="tx1"/>
                </a:solidFill>
              </a:rPr>
              <a:t/>
            </a:r>
            <a:br/>
            <a:r>
              <a:rPr sz="1200" b="1">
                <a:solidFill>
                  <a:schemeClr val="tx1"/>
                </a:solidFill>
              </a:rPr>
              <a:t>(Bold, 12)</a:t>
            </a:r>
          </a:p>
        </p:txBody>
      </p:sp>
      <p:sp>
        <p:nvSpPr>
          <p:cNvPr id="39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3CF2AEF2-913A-49F2-A3FA-6460C41DCC47}"/>
              </a:ext>
            </a:extLst>
          </p:cNvPr>
          <p:cNvSpPr>
            <a:spLocks xmlns:a="http://schemas.openxmlformats.org/drawingml/2006/main" noGrp="1"/>
          </p:cNvSpPr>
          <p:nvPr>
            <p:ph type="body" idx="50" hasCustomPrompt="1"/>
          </p:nvPr>
        </p:nvSpPr>
        <p:spPr>
          <a:xfrm xmlns:a="http://schemas.openxmlformats.org/drawingml/2006/main">
            <a:off x="4676312" y="2792689"/>
            <a:ext cx="991441" cy="61113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4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9F6BA7F-1783-4161-829E-06F59184DD59}"/>
              </a:ext>
            </a:extLst>
          </p:cNvPr>
          <p:cNvSpPr>
            <a:spLocks xmlns:a="http://schemas.openxmlformats.org/drawingml/2006/main" noGrp="1"/>
          </p:cNvSpPr>
          <p:nvPr>
            <p:ph type="body" idx="51" hasCustomPrompt="1"/>
          </p:nvPr>
        </p:nvSpPr>
        <p:spPr>
          <a:xfrm xmlns:a="http://schemas.openxmlformats.org/drawingml/2006/main">
            <a:off x="4679460" y="3429354"/>
            <a:ext cx="991441" cy="5496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>
                <a:latin typeface="+mj-ea"/>
                <a:ea typeface="+mj-ea"/>
                <a:cs typeface="+mj-ea"/>
              </a:defRPr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41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2F6AE268-6AD9-4B3D-9397-35C631EBA101}"/>
              </a:ext>
            </a:extLst>
          </p:cNvPr>
          <p:cNvSpPr>
            <a:spLocks xmlns:a="http://schemas.openxmlformats.org/drawingml/2006/main" noGrp="1"/>
          </p:cNvSpPr>
          <p:nvPr>
            <p:ph type="body" idx="52" hasCustomPrompt="1"/>
          </p:nvPr>
        </p:nvSpPr>
        <p:spPr>
          <a:xfrm xmlns:a="http://schemas.openxmlformats.org/drawingml/2006/main">
            <a:off x="4676312" y="4026771"/>
            <a:ext cx="991441" cy="575144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4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43429B46-BC0D-4898-9D79-AA9A67C3FE8E}"/>
              </a:ext>
            </a:extLst>
          </p:cNvPr>
          <p:cNvSpPr>
            <a:spLocks xmlns:a="http://schemas.openxmlformats.org/drawingml/2006/main" noGrp="1"/>
          </p:cNvSpPr>
          <p:nvPr>
            <p:ph type="body" idx="53" hasCustomPrompt="1"/>
          </p:nvPr>
        </p:nvSpPr>
        <p:spPr>
          <a:xfrm xmlns:a="http://schemas.openxmlformats.org/drawingml/2006/main">
            <a:off x="5712790" y="2792688"/>
            <a:ext cx="2838184" cy="600995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43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69DCE832-9AB0-449E-8572-2218FEB77CC3}"/>
              </a:ext>
            </a:extLst>
          </p:cNvPr>
          <p:cNvSpPr>
            <a:spLocks xmlns:a="http://schemas.openxmlformats.org/drawingml/2006/main" noGrp="1"/>
          </p:cNvSpPr>
          <p:nvPr>
            <p:ph type="body" idx="54" hasCustomPrompt="1"/>
          </p:nvPr>
        </p:nvSpPr>
        <p:spPr>
          <a:xfrm xmlns:a="http://schemas.openxmlformats.org/drawingml/2006/main">
            <a:off x="5712790" y="3393683"/>
            <a:ext cx="2838184" cy="58528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44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7CD42750-7550-4AF6-B69F-5C88B233C409}"/>
              </a:ext>
            </a:extLst>
          </p:cNvPr>
          <p:cNvSpPr>
            <a:spLocks xmlns:a="http://schemas.openxmlformats.org/drawingml/2006/main" noGrp="1"/>
          </p:cNvSpPr>
          <p:nvPr>
            <p:ph type="body" idx="55" hasCustomPrompt="1"/>
          </p:nvPr>
        </p:nvSpPr>
        <p:spPr>
          <a:xfrm xmlns:a="http://schemas.openxmlformats.org/drawingml/2006/main">
            <a:off x="5712790" y="4004499"/>
            <a:ext cx="2838184" cy="613219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11)</a:t>
            </a:r>
          </a:p>
        </p:txBody>
      </p:sp>
      <p:sp>
        <p:nvSpPr>
          <p:cNvPr id="29" name="제목 3">
            <a:extLst xmlns:a="http://schemas.openxmlformats.org/drawingml/2006/main">
              <a:ext uri="{FF2B5EF4-FFF2-40B4-BE49-F238E27FC236}">
                <a16:creationId xmlns:a16="http://schemas.microsoft.com/office/drawing/2014/main" id="{CE0916E4-2466-452E-B2EF-D23D4EE25FFE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141" y="229061"/>
            <a:ext cx="7886700" cy="4197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indent="-270000">
              <a:lnSpc>
                <a:spcPct val="120000"/>
              </a:lnSpc>
              <a:buNone/>
              <a:defRPr sz="2000" b="1"/>
            </a:lvl1pPr>
          </a:lstStyle>
          <a:p xmlns:a="http://schemas.openxmlformats.org/drawingml/2006/main">
            <a:r>
              <a:t>본문 제목</a:t>
            </a:r>
            <a:r>
              <a:t> (</a:t>
            </a:r>
            <a:r>
              <a:t>맑은 고딕 </a:t>
            </a:r>
            <a:r>
              <a:t>Bold, 20)</a:t>
            </a:r>
            <a:endParaRPr/>
          </a:p>
        </p:txBody>
      </p:sp>
      <p:sp>
        <p:nvSpPr>
          <p:cNvPr id="3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459C1E8E-8BDD-42BC-9A0A-B531691510F2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7134" y="661281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  <p:sp>
        <p:nvSpPr>
          <p:cNvPr id="3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37A4D162-EB75-4E71-A376-41178A3A72F0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35043" y="1080991"/>
            <a:ext cx="8387953" cy="64611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  <a:endParaRPr/>
          </a:p>
        </p:txBody>
      </p:sp>
      <p:sp>
        <p:nvSpPr>
          <p:cNvPr id="4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896131CE-E91E-4927-8AAC-1FAEFFE0D7D6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187134" y="1733842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userDrawn="1">
  <p:cSld name="5_제목 및 내용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41" name="그림 39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017577a9994bce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33" name="직선 연결선 32">
            <a:extLst xmlns:a="http://schemas.openxmlformats.org/drawingml/2006/main">
              <a:ext uri="{FF2B5EF4-FFF2-40B4-BE49-F238E27FC236}">
                <a16:creationId xmlns:a16="http://schemas.microsoft.com/office/drawing/2014/main" id="{8B0DC080-2A81-40AF-8BB2-EFCBF894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9141" y="648772"/>
            <a:ext cx="8648129" cy="0"/>
          </a:xfrm>
          <a:prstGeom xmlns:a="http://schemas.openxmlformats.org/drawingml/2006/main" prst="line">
            <a:avLst/>
          </a:prstGeom>
          <a:ln xmlns:a="http://schemas.openxmlformats.org/drawingml/2006/main" w="12700">
            <a:solidFill>
              <a:schemeClr val="bg2">
                <a:lumMod val="75000"/>
              </a:schemeClr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  <p:sp>
        <p:nvSpPr>
          <p:cNvPr id="32" name="TextBox 31">
            <a:extLst xmlns:a="http://schemas.openxmlformats.org/drawingml/2006/main">
              <a:ext uri="{FF2B5EF4-FFF2-40B4-BE49-F238E27FC236}">
                <a16:creationId xmlns:a16="http://schemas.microsoft.com/office/drawing/2014/main" id="{9FCD3EF7-277D-4F3D-A26D-4F85B02FE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pic>
        <p:nvPicPr>
          <p:cNvPr id="44" name="그림 3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4c826dab4840d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90873" y="4815579"/>
            <a:ext cx="1000125" cy="264319"/>
          </a:xfrm>
          <a:prstGeom xmlns:a="http://schemas.openxmlformats.org/drawingml/2006/main" prst="rect">
            <a:avLst/>
          </a:prstGeom>
        </p:spPr>
      </p:pic>
      <p:sp>
        <p:nvSpPr>
          <p:cNvPr id="36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22AD1B61-9717-41B8-B5E6-3878E20AD514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graphicFrame>
        <p:nvGraphicFramePr>
          <p:cNvPr id="46" name="표 9"/>
          <p:cNvGraphicFramePr/>
          <p:nvPr/>
        </p:nvGraphicFramePr>
        <p:xfrm>
          <a:off xmlns:a="http://schemas.openxmlformats.org/drawingml/2006/main" x="321195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7" name="표 10"/>
          <p:cNvGraphicFramePr/>
          <p:nvPr/>
        </p:nvGraphicFramePr>
        <p:xfrm>
          <a:off xmlns:a="http://schemas.openxmlformats.org/drawingml/2006/main" x="4660851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2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060B3D79-3D8B-4E72-A60C-43F785B913B2}"/>
              </a:ext>
            </a:extLst>
          </p:cNvPr>
          <p:cNvSpPr>
            <a:spLocks xmlns:a="http://schemas.openxmlformats.org/drawingml/2006/main" noGrp="1"/>
          </p:cNvSpPr>
          <p:nvPr>
            <p:ph type="body" idx="13" hasCustomPrompt="1"/>
          </p:nvPr>
        </p:nvSpPr>
        <p:spPr>
          <a:xfrm xmlns:a="http://schemas.openxmlformats.org/drawingml/2006/main">
            <a:off x="340686" y="2098406"/>
            <a:ext cx="3915760" cy="37075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11)</a:t>
            </a:r>
            <a:endParaRPr/>
          </a:p>
        </p:txBody>
      </p:sp>
      <p:sp>
        <p:nvSpPr>
          <p:cNvPr id="13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40CE0411-0997-4649-AB43-3215EE83601D}"/>
              </a:ext>
            </a:extLst>
          </p:cNvPr>
          <p:cNvSpPr>
            <a:spLocks xmlns:a="http://schemas.openxmlformats.org/drawingml/2006/main" noGrp="1"/>
          </p:cNvSpPr>
          <p:nvPr>
            <p:ph type="body" idx="14" hasCustomPrompt="1"/>
          </p:nvPr>
        </p:nvSpPr>
        <p:spPr>
          <a:xfrm xmlns:a="http://schemas.openxmlformats.org/drawingml/2006/main">
            <a:off x="472738" y="2507213"/>
            <a:ext cx="3783708" cy="84116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ￚ"/>
              <a:defRPr sz="9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  <a:endParaRPr/>
          </a:p>
        </p:txBody>
      </p:sp>
      <p:sp>
        <p:nvSpPr>
          <p:cNvPr id="1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0C2D035-EF67-46FE-9B06-30287CD1E157}"/>
              </a:ext>
            </a:extLst>
          </p:cNvPr>
          <p:cNvSpPr>
            <a:spLocks xmlns:a="http://schemas.openxmlformats.org/drawingml/2006/main" noGrp="1"/>
          </p:cNvSpPr>
          <p:nvPr>
            <p:ph type="body" idx="30" hasCustomPrompt="1"/>
          </p:nvPr>
        </p:nvSpPr>
        <p:spPr>
          <a:xfrm xmlns:a="http://schemas.openxmlformats.org/drawingml/2006/main">
            <a:off x="313164" y="1754781"/>
            <a:ext cx="4123199" cy="33628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 </a:t>
            </a:r>
            <a:r>
              <a:rPr sz="1200" b="1">
                <a:solidFill>
                  <a:schemeClr val="tx1"/>
                </a:solidFill>
              </a:rPr>
              <a:t>(</a:t>
            </a:r>
            <a:r>
              <a:rPr sz="1200" b="1">
                <a:solidFill>
                  <a:schemeClr val="tx1"/>
                </a:solidFill>
              </a:rPr>
              <a:t>맑은 고딕 </a:t>
            </a:r>
            <a:r>
              <a:t>Bold</a:t>
            </a:r>
            <a:r>
              <a:rPr sz="1200" b="1">
                <a:solidFill>
                  <a:schemeClr val="tx1"/>
                </a:solidFill>
              </a:rPr>
              <a:t>, 12)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DCF4BD9-D511-4DBD-B18D-AEE8F13DF2EE}"/>
              </a:ext>
            </a:extLst>
          </p:cNvPr>
          <p:cNvSpPr>
            <a:spLocks xmlns:a="http://schemas.openxmlformats.org/drawingml/2006/main" noGrp="1"/>
          </p:cNvSpPr>
          <p:nvPr>
            <p:ph type="body" idx="31" hasCustomPrompt="1"/>
          </p:nvPr>
        </p:nvSpPr>
        <p:spPr>
          <a:xfrm xmlns:a="http://schemas.openxmlformats.org/drawingml/2006/main">
            <a:off x="4669014" y="1762122"/>
            <a:ext cx="4123199" cy="336283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0" indent="-180000" algn="ctr">
              <a:lnSpc>
                <a:spcPct val="120000"/>
              </a:lnSpc>
              <a:buNone/>
              <a:defRPr sz="1200" b="1" baseline="0"/>
            </a:lvl1pPr>
          </a:lstStyle>
          <a:p xmlns:a="http://schemas.openxmlformats.org/drawingml/2006/main">
            <a:pPr algn="ctr">
              <a:buNone/>
            </a:pPr>
            <a:r>
              <a:rPr sz="1200" b="1">
                <a:solidFill>
                  <a:schemeClr val="tx1"/>
                </a:solidFill>
              </a:rPr>
              <a:t>항목 </a:t>
            </a:r>
            <a:r>
              <a:rPr sz="1200" b="1">
                <a:solidFill>
                  <a:schemeClr val="tx1"/>
                </a:solidFill>
              </a:rPr>
              <a:t>(</a:t>
            </a:r>
            <a:r>
              <a:rPr sz="1200" b="1">
                <a:solidFill>
                  <a:schemeClr val="tx1"/>
                </a:solidFill>
              </a:rPr>
              <a:t>맑은 고딕 </a:t>
            </a:r>
            <a:r>
              <a:t>Bold</a:t>
            </a:r>
            <a:r>
              <a:rPr sz="1200" b="1">
                <a:solidFill>
                  <a:schemeClr val="tx1"/>
                </a:solidFill>
              </a:rPr>
              <a:t>, 12)</a:t>
            </a:r>
            <a:endParaRPr sz="1200" b="1">
              <a:solidFill>
                <a:schemeClr val="tx1"/>
              </a:solidFill>
            </a:endParaRPr>
          </a:p>
        </p:txBody>
      </p:sp>
      <p:sp>
        <p:nvSpPr>
          <p:cNvPr id="1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D9BD9876-55DF-4693-AE7C-C3D3E4082793}"/>
              </a:ext>
            </a:extLst>
          </p:cNvPr>
          <p:cNvSpPr>
            <a:spLocks xmlns:a="http://schemas.openxmlformats.org/drawingml/2006/main" noGrp="1"/>
          </p:cNvSpPr>
          <p:nvPr>
            <p:ph type="body" idx="32" hasCustomPrompt="1"/>
          </p:nvPr>
        </p:nvSpPr>
        <p:spPr>
          <a:xfrm xmlns:a="http://schemas.openxmlformats.org/drawingml/2006/main">
            <a:off x="340686" y="3383387"/>
            <a:ext cx="3915760" cy="33086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11)</a:t>
            </a:r>
            <a:endParaRPr/>
          </a:p>
        </p:txBody>
      </p:sp>
      <p:sp>
        <p:nvSpPr>
          <p:cNvPr id="1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FC5C81F3-1566-470A-85CE-223C05D3CEC2}"/>
              </a:ext>
            </a:extLst>
          </p:cNvPr>
          <p:cNvSpPr>
            <a:spLocks xmlns:a="http://schemas.openxmlformats.org/drawingml/2006/main" noGrp="1"/>
          </p:cNvSpPr>
          <p:nvPr>
            <p:ph type="body" idx="33" hasCustomPrompt="1"/>
          </p:nvPr>
        </p:nvSpPr>
        <p:spPr>
          <a:xfrm xmlns:a="http://schemas.openxmlformats.org/drawingml/2006/main">
            <a:off x="472738" y="3752304"/>
            <a:ext cx="3783708" cy="84116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  <a:endParaRPr/>
          </a:p>
        </p:txBody>
      </p:sp>
      <p:sp>
        <p:nvSpPr>
          <p:cNvPr id="18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288B997A-3D73-45AC-833C-A1D836945F55}"/>
              </a:ext>
            </a:extLst>
          </p:cNvPr>
          <p:cNvSpPr>
            <a:spLocks xmlns:a="http://schemas.openxmlformats.org/drawingml/2006/main" noGrp="1"/>
          </p:cNvSpPr>
          <p:nvPr>
            <p:ph type="body" idx="34" hasCustomPrompt="1"/>
          </p:nvPr>
        </p:nvSpPr>
        <p:spPr>
          <a:xfrm xmlns:a="http://schemas.openxmlformats.org/drawingml/2006/main">
            <a:off x="4665021" y="2098406"/>
            <a:ext cx="3915760" cy="37075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11)</a:t>
            </a:r>
            <a:endParaRPr/>
          </a:p>
        </p:txBody>
      </p:sp>
      <p:sp>
        <p:nvSpPr>
          <p:cNvPr id="1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30158B7-8F81-40D0-84C3-17F5659D5723}"/>
              </a:ext>
            </a:extLst>
          </p:cNvPr>
          <p:cNvSpPr>
            <a:spLocks xmlns:a="http://schemas.openxmlformats.org/drawingml/2006/main" noGrp="1"/>
          </p:cNvSpPr>
          <p:nvPr>
            <p:ph type="body" idx="35" hasCustomPrompt="1"/>
          </p:nvPr>
        </p:nvSpPr>
        <p:spPr>
          <a:xfrm xmlns:a="http://schemas.openxmlformats.org/drawingml/2006/main">
            <a:off x="4797072" y="2507213"/>
            <a:ext cx="3783708" cy="84116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  <a:endParaRPr/>
          </a:p>
        </p:txBody>
      </p:sp>
      <p:sp>
        <p:nvSpPr>
          <p:cNvPr id="2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82E931DD-3580-4AEE-A4B9-2BF556E410A8}"/>
              </a:ext>
            </a:extLst>
          </p:cNvPr>
          <p:cNvSpPr>
            <a:spLocks xmlns:a="http://schemas.openxmlformats.org/drawingml/2006/main" noGrp="1"/>
          </p:cNvSpPr>
          <p:nvPr>
            <p:ph type="body" idx="36" hasCustomPrompt="1"/>
          </p:nvPr>
        </p:nvSpPr>
        <p:spPr>
          <a:xfrm xmlns:a="http://schemas.openxmlformats.org/drawingml/2006/main">
            <a:off x="4665021" y="3383387"/>
            <a:ext cx="3915760" cy="33086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1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11)</a:t>
            </a:r>
            <a:endParaRPr/>
          </a:p>
        </p:txBody>
      </p:sp>
      <p:sp>
        <p:nvSpPr>
          <p:cNvPr id="2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77EBAB7-0258-4A86-AD9C-324F3B05967E}"/>
              </a:ext>
            </a:extLst>
          </p:cNvPr>
          <p:cNvSpPr>
            <a:spLocks xmlns:a="http://schemas.openxmlformats.org/drawingml/2006/main" noGrp="1"/>
          </p:cNvSpPr>
          <p:nvPr>
            <p:ph type="body" idx="37" hasCustomPrompt="1"/>
          </p:nvPr>
        </p:nvSpPr>
        <p:spPr>
          <a:xfrm xmlns:a="http://schemas.openxmlformats.org/drawingml/2006/main">
            <a:off x="4797072" y="3752304"/>
            <a:ext cx="3783708" cy="841160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9)</a:t>
            </a:r>
            <a:endParaRPr/>
          </a:p>
        </p:txBody>
      </p:sp>
      <p:sp>
        <p:nvSpPr>
          <p:cNvPr id="22" name="제목 3">
            <a:extLst xmlns:a="http://schemas.openxmlformats.org/drawingml/2006/main">
              <a:ext uri="{FF2B5EF4-FFF2-40B4-BE49-F238E27FC236}">
                <a16:creationId xmlns:a16="http://schemas.microsoft.com/office/drawing/2014/main" id="{D52CC0EC-D45C-4BFD-9A77-8B480C6BA583}"/>
              </a:ext>
            </a:extLst>
          </p:cNvPr>
          <p:cNvSpPr>
            <a:spLocks xmlns:a="http://schemas.openxmlformats.org/drawingml/2006/main" noGrp="1"/>
          </p:cNvSpPr>
          <p:nvPr>
            <p:ph type="title" idx="0" hasCustomPrompt="1"/>
          </p:nvPr>
        </p:nvSpPr>
        <p:spPr>
          <a:xfrm xmlns:a="http://schemas.openxmlformats.org/drawingml/2006/main">
            <a:off x="199141" y="229061"/>
            <a:ext cx="7886700" cy="41971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indent="-270000">
              <a:lnSpc>
                <a:spcPct val="120000"/>
              </a:lnSpc>
              <a:buNone/>
              <a:defRPr sz="2000" b="1"/>
            </a:lvl1pPr>
          </a:lstStyle>
          <a:p xmlns:a="http://schemas.openxmlformats.org/drawingml/2006/main">
            <a:r>
              <a:t>본문 제목</a:t>
            </a:r>
            <a:r>
              <a:t> (</a:t>
            </a:r>
            <a:r>
              <a:t>맑은 고딕 </a:t>
            </a:r>
            <a:r>
              <a:t>Bold, 20)</a:t>
            </a:r>
            <a:endParaRPr/>
          </a:p>
        </p:txBody>
      </p:sp>
      <p:sp>
        <p:nvSpPr>
          <p:cNvPr id="23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81C3E8C-C15F-436A-A4CF-401B844F64FA}"/>
              </a:ext>
            </a:extLst>
          </p:cNvPr>
          <p:cNvSpPr>
            <a:spLocks xmlns:a="http://schemas.openxmlformats.org/drawingml/2006/main" noGrp="1"/>
          </p:cNvSpPr>
          <p:nvPr>
            <p:ph type="body" idx="10" hasCustomPrompt="1"/>
          </p:nvPr>
        </p:nvSpPr>
        <p:spPr>
          <a:xfrm xmlns:a="http://schemas.openxmlformats.org/drawingml/2006/main">
            <a:off x="187134" y="661281"/>
            <a:ext cx="8644822" cy="407201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>
            <a:lvl1pPr marL="257175" indent="-270000">
              <a:lnSpc>
                <a:spcPct val="120000"/>
              </a:lnSpc>
              <a:buFont typeface="맑은 고딕"/>
              <a:buChar char="■"/>
              <a:defRPr sz="1500" b="1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 </a:t>
            </a:r>
            <a:r>
              <a:t>Bold, 15)</a:t>
            </a:r>
            <a:endParaRPr/>
          </a:p>
        </p:txBody>
      </p:sp>
      <p:sp>
        <p:nvSpPr>
          <p:cNvPr id="24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586DC8A-0006-4418-965F-3DE4026DA957}"/>
              </a:ext>
            </a:extLst>
          </p:cNvPr>
          <p:cNvSpPr>
            <a:spLocks xmlns:a="http://schemas.openxmlformats.org/drawingml/2006/main" noGrp="1"/>
          </p:cNvSpPr>
          <p:nvPr>
            <p:ph type="body" idx="12" hasCustomPrompt="1"/>
          </p:nvPr>
        </p:nvSpPr>
        <p:spPr>
          <a:xfrm xmlns:a="http://schemas.openxmlformats.org/drawingml/2006/main">
            <a:off x="335043" y="1080991"/>
            <a:ext cx="8387953" cy="646118"/>
          </a:xfrm>
        </p:spPr>
        <p:txBody>
          <a:bodyPr xmlns:a="http://schemas.openxmlformats.org/drawingml/2006/main" anchor="t">
            <a:noAutofit/>
          </a:bodyPr>
          <a:lstStyle xmlns:a="http://schemas.openxmlformats.org/drawingml/2006/main">
            <a:lvl1pPr marL="214313" indent="-180000">
              <a:lnSpc>
                <a:spcPct val="120000"/>
              </a:lnSpc>
              <a:buFont typeface="맑은 고딕"/>
              <a:buChar char="ᆞ"/>
              <a:defRPr sz="1200"/>
            </a:lvl1pPr>
          </a:lstStyle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</a:p>
          <a:p xmlns:a="http://schemas.openxmlformats.org/drawingml/2006/main">
            <a:pPr lvl="0">
              <a:buNone/>
            </a:pPr>
            <a:r>
              <a:t>내용 입력 </a:t>
            </a:r>
            <a:r>
              <a:t>(</a:t>
            </a:r>
            <a:r>
              <a:t>맑은 고딕</a:t>
            </a:r>
            <a:r>
              <a:t>, 12)</a:t>
            </a:r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preserve="1" userDrawn="1">
  <p:cSld name="사용자 지정 레이아웃"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22" name="그림 17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2a8669c29254f0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016324" y="241571"/>
            <a:ext cx="891260" cy="135537"/>
          </a:xfrm>
          <a:prstGeom xmlns:a="http://schemas.openxmlformats.org/drawingml/2006/main" prst="rect">
            <a:avLst/>
          </a:prstGeom>
        </p:spPr>
      </p:pic>
      <p:sp>
        <p:nvSpPr>
          <p:cNvPr id="19" name="TextBox 18">
            <a:extLst xmlns:a="http://schemas.openxmlformats.org/drawingml/2006/main">
              <a:ext uri="{FF2B5EF4-FFF2-40B4-BE49-F238E27FC236}">
                <a16:creationId xmlns:a16="http://schemas.microsoft.com/office/drawing/2014/main" id="{50ECE1B4-80E8-461D-A373-F1357B9B51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967" y="4836487"/>
            <a:ext cx="2556087" cy="25391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r>
              <a:rPr sz="1050">
                <a:solidFill>
                  <a:schemeClr val="bg1">
                    <a:lumMod val="65000"/>
                  </a:schemeClr>
                </a:solidFill>
              </a:rPr>
              <a:t>함께 성장하는 행복한 메모리사업부</a:t>
            </a:r>
            <a:endParaRPr sz="1013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20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7423B3D-0862-41F0-8CC4-E28D51F78E41}"/>
              </a:ext>
            </a:extLst>
          </p:cNvPr>
          <p:cNvSpPr>
            <a:spLocks xmlns:a="http://schemas.openxmlformats.org/drawingml/2006/main" noGrp="1"/>
          </p:cNvSpPr>
          <p:nvPr>
            <p:ph type="body" idx="38" hasCustomPrompt="1"/>
          </p:nvPr>
        </p:nvSpPr>
        <p:spPr>
          <a:xfrm xmlns:a="http://schemas.openxmlformats.org/drawingml/2006/main">
            <a:off x="4849177" y="4847779"/>
            <a:ext cx="3188693" cy="232119"/>
          </a:xfrm>
        </p:spPr>
        <p:txBody>
          <a:bodyPr xmlns:a="http://schemas.openxmlformats.org/drawingml/2006/main" anchor="ctr">
            <a:noAutofit/>
          </a:bodyPr>
          <a:lstStyle xmlns:a="http://schemas.openxmlformats.org/drawingml/2006/main">
            <a:lvl1pPr marL="0" indent="0" algn="r">
              <a:buFont typeface="맑은 고딕"/>
              <a:buNone/>
              <a:defRPr sz="900">
                <a:solidFill>
                  <a:srgbClr val="898989"/>
                </a:solidFill>
                <a:latin typeface="+mn-lt"/>
                <a:ea typeface="+mn-lt"/>
                <a:cs typeface="+mn-lt"/>
              </a:defRPr>
            </a:lvl1pPr>
          </a:lstStyle>
          <a:p xmlns:a="http://schemas.openxmlformats.org/drawingml/2006/main">
            <a:pPr lvl="0">
              <a:buNone/>
            </a:pPr>
            <a:r>
              <a:t>부서명 </a:t>
            </a:r>
            <a:r>
              <a:t>/ </a:t>
            </a:r>
            <a:r>
              <a:t>작성자</a:t>
            </a:r>
            <a:endParaRPr/>
          </a:p>
        </p:txBody>
      </p:sp>
      <p:sp>
        <p:nvSpPr>
          <p:cNvPr id="6" name="TextBox 5">
            <a:extLst xmlns:a="http://schemas.openxmlformats.org/drawingml/2006/main">
              <a:ext uri="{FF2B5EF4-FFF2-40B4-BE49-F238E27FC236}">
                <a16:creationId xmlns:a16="http://schemas.microsoft.com/office/drawing/2014/main" id="{76DB461A-92D9-4E29-BF72-6A51C97CE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32484" y="1566135"/>
            <a:ext cx="5079031" cy="9233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algn="ctr">
              <a:buNone/>
            </a:pPr>
            <a:r>
              <a:rPr sz="5400" b="1">
                <a:solidFill>
                  <a:srgbClr val="1429A0"/>
                </a:solidFill>
                <a:latin typeface="+mn-ea"/>
                <a:ea typeface="+mn-ea"/>
                <a:cs typeface="+mn-ea"/>
              </a:rPr>
              <a:t>Thank</a:t>
            </a:r>
            <a:r>
              <a:rPr sz="5400" b="1">
                <a:solidFill>
                  <a:srgbClr val="1429A0"/>
                </a:solidFill>
                <a:latin typeface="+mn-ea"/>
                <a:ea typeface="+mn-ea"/>
                <a:cs typeface="+mn-ea"/>
              </a:rPr>
              <a:t> You.</a:t>
            </a:r>
            <a:endParaRPr sz="5400" b="1">
              <a:solidFill>
                <a:srgbClr val="1429A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8" name="TextBox 7">
            <a:extLst xmlns:a="http://schemas.openxmlformats.org/drawingml/2006/main">
              <a:ext uri="{FF2B5EF4-FFF2-40B4-BE49-F238E27FC236}">
                <a16:creationId xmlns:a16="http://schemas.microsoft.com/office/drawing/2014/main" id="{593341C7-FA46-4BBF-8D56-A2C1967A7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366" y="3013444"/>
            <a:ext cx="4256240" cy="78483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Vision.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초일류 기술로 새로운 가능성을 열어가는 진정한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1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등이 되자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.</a:t>
            </a:r>
          </a:p>
          <a:p xmlns:a="http://schemas.openxmlformats.org/drawingml/2006/main">
            <a:pPr marL="0" marR="0" lvl="0" indent="0" algn="ctr" defTabSz="45720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Mission.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함께 지속 성장하는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No.1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메모리 솔루션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Provider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</a:p>
          <a:p xmlns:a="http://schemas.openxmlformats.org/drawingml/2006/main">
            <a:pPr marL="0" indent="0" algn="ctr">
              <a:lnSpc>
                <a:spcPct val="150000"/>
              </a:lnSpc>
              <a:buNone/>
            </a:pP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Catchphrase. 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함께 성장하는 행복한 메모리사업부</a:t>
            </a:r>
            <a:r>
              <a:rPr sz="1000" b="1">
                <a:solidFill>
                  <a:srgbClr val="000000"/>
                </a:solidFill>
                <a:latin typeface="+mn-ea"/>
                <a:ea typeface="+mn-ea"/>
                <a:cs typeface="+mn-ea"/>
              </a:rPr>
              <a:t> </a:t>
            </a:r>
            <a:endParaRPr sz="1000" b="1">
              <a:solidFill>
                <a:srgbClr val="000000"/>
              </a:solidFill>
              <a:latin typeface="+mn-ea"/>
              <a:ea typeface="+mn-ea"/>
              <a:cs typeface="+mn-ea"/>
            </a:endParaRPr>
          </a:p>
        </p:txBody>
      </p:sp>
      <p:sp>
        <p:nvSpPr>
          <p:cNvPr id="9" name="모서리가 둥근 직사각형 8">
            <a:extLst xmlns:a="http://schemas.openxmlformats.org/drawingml/2006/main">
              <a:ext uri="{FF2B5EF4-FFF2-40B4-BE49-F238E27FC236}">
                <a16:creationId xmlns:a16="http://schemas.microsoft.com/office/drawing/2014/main" id="{E3255AD8-12B4-446A-86D9-D8CB0D9244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41935" y="2901245"/>
            <a:ext cx="4860131" cy="986003"/>
          </a:xfrm>
          <a:prstGeom xmlns:a="http://schemas.openxmlformats.org/drawingml/2006/main" prst="roundRect">
            <a:avLst>
              <a:gd name="adj" fmla="val 1617"/>
            </a:avLst>
          </a:prstGeom>
          <a:noFill xmlns:a="http://schemas.openxmlformats.org/drawingml/2006/main"/>
          <a:ln xmlns:a="http://schemas.openxmlformats.org/drawingml/2006/main" w="12700" cmpd="sng">
            <a:solidFill>
              <a:schemeClr val="bg1">
                <a:lumMod val="85000"/>
              </a:schemeClr>
            </a:solidFill>
            <a:prstDash val="solid"/>
          </a:ln>
        </p:spPr>
        <p:txBody>
          <a:bodyPr xmlns:a="http://schemas.openxmlformats.org/drawingml/2006/main" anchor="ctr"/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lt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1219109">
              <a:spcBef>
                <a:spcPct val="0"/>
              </a:spcBef>
              <a:spcAft>
                <a:spcPct val="0"/>
              </a:spcAft>
              <a:buNone/>
            </a:pPr>
            <a:endParaRPr sz="2100" b="1">
              <a:solidFill>
                <a:prstClr val="white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직사각형 9">
            <a:extLst xmlns:a="http://schemas.openxmlformats.org/drawingml/2006/main">
              <a:ext uri="{FF2B5EF4-FFF2-40B4-BE49-F238E27FC236}">
                <a16:creationId xmlns:a16="http://schemas.microsoft.com/office/drawing/2014/main" id="{AD53E764-F91F-4AC8-AD57-5F93C99FB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60300" y="2762743"/>
            <a:ext cx="1223413" cy="300082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</p:spPr>
        <p:txBody>
          <a:bodyPr xmlns:a="http://schemas.openxmlformats.org/drawingml/2006/main" wrap="none">
            <a:spAutoFit/>
          </a:bodyPr>
          <a:lstStyle xmlns:a="http://schemas.openxmlformats.org/drawingml/2006/main"/>
          <a:p xmlns:a="http://schemas.openxmlformats.org/drawingml/2006/main">
            <a:pPr marL="0" indent="0" algn="ctr">
              <a:lnSpc>
                <a:spcPct val="100000"/>
              </a:lnSpc>
              <a:spcAft>
                <a:spcPts val="600"/>
              </a:spcAft>
              <a:buNone/>
            </a:pPr>
            <a:r>
              <a:rPr sz="1350" b="1">
                <a:solidFill>
                  <a:srgbClr val="1429A0"/>
                </a:solidFill>
                <a:latin typeface="+mn-ea"/>
                <a:ea typeface="+mn-ea"/>
                <a:cs typeface="+mn-ea"/>
              </a:rPr>
              <a:t>메모리사업부</a:t>
            </a:r>
            <a:endParaRPr sz="1350" b="1">
              <a:solidFill>
                <a:srgbClr val="1429A0"/>
              </a:solidFill>
              <a:latin typeface="+mn-ea"/>
              <a:ea typeface="+mn-ea"/>
              <a:cs typeface="+mn-ea"/>
            </a:endParaRPr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0dd897ade214ccc" /><Relationship Type="http://schemas.openxmlformats.org/officeDocument/2006/relationships/slideLayout" Target="/ppt/slideLayouts/slideLayout1.xml" Id="Re4d4b155ee434a5f" /><Relationship Type="http://schemas.openxmlformats.org/officeDocument/2006/relationships/slideLayout" Target="/ppt/slideLayouts/slideLayout2.xml" Id="Rc861f77d7b1c4945" /><Relationship Type="http://schemas.openxmlformats.org/officeDocument/2006/relationships/slideLayout" Target="/ppt/slideLayouts/slideLayout3.xml" Id="R9d33cd45cb0141ec" /><Relationship Type="http://schemas.openxmlformats.org/officeDocument/2006/relationships/slideLayout" Target="/ppt/slideLayouts/slideLayout4.xml" Id="R4ec2c2905a364a2d" /><Relationship Type="http://schemas.openxmlformats.org/officeDocument/2006/relationships/slideLayout" Target="/ppt/slideLayouts/slideLayout5.xml" Id="Ra7d944739de84b77" /><Relationship Type="http://schemas.openxmlformats.org/officeDocument/2006/relationships/slideLayout" Target="/ppt/slideLayouts/slideLayout6.xml" Id="R9f62d59ab7a64a67" /><Relationship Type="http://schemas.openxmlformats.org/officeDocument/2006/relationships/slideLayout" Target="/ppt/slideLayouts/slideLayout7.xml" Id="Rb88f27b6e8d144e1" /><Relationship Type="http://schemas.openxmlformats.org/officeDocument/2006/relationships/slideLayout" Target="/ppt/slideLayouts/slideLayout8.xml" Id="R10df81d01b1a4819" /><Relationship Type="http://schemas.openxmlformats.org/officeDocument/2006/relationships/slideLayout" Target="/ppt/slideLayouts/slideLayout9.xml" Id="R3b921b26a4e745e9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E76D2E63-8D21-474D-A2C7-05B42B5D2230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28650" y="273844"/>
            <a:ext cx="7886700" cy="99417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마스터 제목 스타일 편집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1BD9F81C-AA46-4B44-9280-E442E493417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28650" y="1369219"/>
            <a:ext cx="7886700" cy="326350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마스터 텍스트 스타일 편집</a:t>
            </a:r>
          </a:p>
          <a:p xmlns:a="http://schemas.openxmlformats.org/drawingml/2006/main">
            <a:pPr lvl="1">
              <a:buNone/>
            </a:pPr>
            <a:r>
              <a:t>둘째 수준</a:t>
            </a:r>
          </a:p>
          <a:p xmlns:a="http://schemas.openxmlformats.org/drawingml/2006/main">
            <a:pPr lvl="2">
              <a:buNone/>
            </a:pPr>
            <a:r>
              <a:t>셋째 수준</a:t>
            </a:r>
          </a:p>
          <a:p xmlns:a="http://schemas.openxmlformats.org/drawingml/2006/main">
            <a:pPr lvl="3">
              <a:buNone/>
            </a:pPr>
            <a:r>
              <a:t>넷째 수준</a:t>
            </a:r>
          </a:p>
          <a:p xmlns:a="http://schemas.openxmlformats.org/drawingml/2006/main">
            <a:pPr lvl="4">
              <a:buNone/>
            </a:pPr>
            <a:r>
              <a:t>다섯째 수준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F1CDBF18-0F4D-46B6-951F-13EA2E1E6D95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6286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0684F02D-9EA6-4EB4-AC2D-88FA9B80AECA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3028950" y="4767263"/>
            <a:ext cx="30861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98B85C2-78B3-4622-9CC8-CF4393D9F3DE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6457950" y="4767263"/>
            <a:ext cx="2057400" cy="2738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F8A797C-E98E-4485-A668-DA619986C316}" type="slidenum">
              <a:t>‹#›</a:t>
            </a:fld>
            <a:endParaRPr/>
          </a:p>
        </p:txBody>
      </p:sp>
      <p:sp>
        <p:nvSpPr>
          <p:cNvPr id="7" name="TextBox 4">
            <a:extLst xmlns:a="http://schemas.openxmlformats.org/drawingml/2006/main">
              <a:ext uri="{FF2B5EF4-FFF2-40B4-BE49-F238E27FC236}">
                <a16:creationId xmlns:a16="http://schemas.microsoft.com/office/drawing/2014/main" id="{81F906AA-5BA6-460A-8ACD-FBD744AE9B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94823" y="4815579"/>
            <a:ext cx="554355" cy="230820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square" lIns="68570" tIns="34284" rIns="68570" bIns="34284">
            <a:spAutoFit/>
          </a:bodyPr>
          <a:lstStyle xmlns:a="http://schemas.openxmlformats.org/drawingml/2006/main">
            <a:lvl1pPr marL="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457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914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371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8288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22860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7432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32004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3657600" algn="l" defTabSz="914400">
              <a:buNone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 defTabSz="685767">
              <a:spcBef>
                <a:spcPct val="0"/>
              </a:spcBef>
              <a:spcAft>
                <a:spcPct val="0"/>
              </a:spcAft>
              <a:buNone/>
            </a:pPr>
            <a:fld id="{F445441D-5648-4C4E-924F-9D5109CAF161}" type="slidenum">
              <a:rPr sz="1050" b="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‹#›</a:t>
            </a:fld>
            <a:r>
              <a:rPr sz="1050" b="0">
                <a:solidFill>
                  <a:schemeClr val="bg1">
                    <a:lumMod val="65000"/>
                  </a:schemeClr>
                </a:solidFill>
                <a:latin typeface="+mj-lt"/>
                <a:ea typeface="+mj-lt"/>
                <a:cs typeface="+mj-lt"/>
              </a:rPr>
              <a:t>/19</a:t>
            </a:r>
            <a:endParaRPr sz="1050" b="0">
              <a:solidFill>
                <a:schemeClr val="bg1">
                  <a:lumMod val="65000"/>
                </a:schemeClr>
              </a:solidFill>
              <a:latin typeface="+mj-lt"/>
              <a:ea typeface="+mj-lt"/>
              <a:cs typeface="+mj-lt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4d4b155ee434a5f"/>
    <p:sldLayoutId xmlns:r="http://schemas.openxmlformats.org/officeDocument/2006/relationships" id="2147483650" r:id="Rc861f77d7b1c4945"/>
    <p:sldLayoutId xmlns:r="http://schemas.openxmlformats.org/officeDocument/2006/relationships" id="2147483651" r:id="R9d33cd45cb0141ec"/>
    <p:sldLayoutId xmlns:r="http://schemas.openxmlformats.org/officeDocument/2006/relationships" id="2147483652" r:id="R4ec2c2905a364a2d"/>
    <p:sldLayoutId xmlns:r="http://schemas.openxmlformats.org/officeDocument/2006/relationships" id="2147483653" r:id="Ra7d944739de84b77"/>
    <p:sldLayoutId xmlns:r="http://schemas.openxmlformats.org/officeDocument/2006/relationships" id="2147483654" r:id="R9f62d59ab7a64a67"/>
    <p:sldLayoutId xmlns:r="http://schemas.openxmlformats.org/officeDocument/2006/relationships" id="2147483655" r:id="Rb88f27b6e8d144e1"/>
    <p:sldLayoutId xmlns:r="http://schemas.openxmlformats.org/officeDocument/2006/relationships" id="2147483656" r:id="R10df81d01b1a4819"/>
    <p:sldLayoutId xmlns:r="http://schemas.openxmlformats.org/officeDocument/2006/relationships" id="2147483657" r:id="R3b921b26a4e745e9"/>
  </p:sldLayoutIdLst>
  <p:hf sldNum="0" hdr="0" dt="0"/>
  <p:txStyles>
    <p:titleStyle>
      <a:lvl1pPr xmlns:a="http://schemas.openxmlformats.org/drawingml/2006/main" algn="l" defTabSz="685800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171450" indent="-171450" algn="l" defTabSz="685800">
        <a:lnSpc>
          <a:spcPct val="90000"/>
        </a:lnSpc>
        <a:spcBef>
          <a:spcPts val="750"/>
        </a:spcBef>
        <a:buFont typeface="Arial"/>
        <a:buChar char="•"/>
        <a:defRPr sz="21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5143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8572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5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2001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5430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8859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2288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5717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914650" indent="-171450" algn="l" defTabSz="685800">
        <a:lnSpc>
          <a:spcPct val="90000"/>
        </a:lnSpc>
        <a:spcBef>
          <a:spcPts val="375"/>
        </a:spcBef>
        <a:buFont typeface="Arial"/>
        <a:buChar char="•"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3429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6858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0287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3716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17145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0574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24003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2743200" algn="l" defTabSz="685800">
        <a:buNone/>
        <a:defRPr sz="135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96d24053c64468a" /><Relationship Type="http://schemas.openxmlformats.org/officeDocument/2006/relationships/notesSlide" Target="/ppt/notesSlides/notesSlide1.xml" Id="R5930534a99be41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51ab9fd8a25642f7" /><Relationship Type="http://schemas.openxmlformats.org/officeDocument/2006/relationships/notesSlide" Target="/ppt/notesSlides/notesSlide2.xml" Id="Rb957780535c841d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a21615f116544fcf" /><Relationship Type="http://schemas.openxmlformats.org/officeDocument/2006/relationships/notesSlide" Target="/ppt/notesSlides/notesSlide3.xml" Id="Ra3d9fa42aa0444ab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73e18060ade4aa6" /><Relationship Type="http://schemas.openxmlformats.org/officeDocument/2006/relationships/notesSlide" Target="/ppt/notesSlides/notesSlide4.xml" Id="R77b40abdf93f415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9b3491864c84e70" /><Relationship Type="http://schemas.openxmlformats.org/officeDocument/2006/relationships/notesSlide" Target="/ppt/notesSlides/notesSlide5.xml" Id="Rc17acfcf4810433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bdbcbf4a07214017" /><Relationship Type="http://schemas.openxmlformats.org/officeDocument/2006/relationships/notesSlide" Target="/ppt/notesSlides/notesSlide6.xml" Id="Rdb9ed4f11a844cf3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7af73f600fb949c8" /><Relationship Type="http://schemas.openxmlformats.org/officeDocument/2006/relationships/notesSlide" Target="/ppt/notesSlides/notesSlide7.xml" Id="Ra23f7525f87f43a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5f29f6e7a3df46de" /><Relationship Type="http://schemas.openxmlformats.org/officeDocument/2006/relationships/notesSlide" Target="/ppt/notesSlides/notesSlide8.xml" Id="R3cebcd8a04124a67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15a71a3088bb4b21" /><Relationship Type="http://schemas.openxmlformats.org/officeDocument/2006/relationships/notesSlide" Target="/ppt/notesSlides/notesSlide9.xml" Id="R492748282d014276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401cda9eb74448b4" /><Relationship Type="http://schemas.openxmlformats.org/officeDocument/2006/relationships/notesSlide" Target="/ppt/notesSlides/notesSlide10.xml" Id="Rc0366feb545847e3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c7e356a1d6194e52" /><Relationship Type="http://schemas.openxmlformats.org/officeDocument/2006/relationships/notesSlide" Target="/ppt/notesSlides/notesSlide11.xml" Id="Rf538de750d784bd8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69f27548041b440e" /><Relationship Type="http://schemas.openxmlformats.org/officeDocument/2006/relationships/notesSlide" Target="/ppt/notesSlides/notesSlide12.xml" Id="R548c5ff931f94379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90925034846d498f" /><Relationship Type="http://schemas.openxmlformats.org/officeDocument/2006/relationships/notesSlide" Target="/ppt/notesSlides/notesSlide13.xml" Id="R27ce15cfb2484d47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3d26d4c7488244b6" /><Relationship Type="http://schemas.openxmlformats.org/officeDocument/2006/relationships/notesSlide" Target="/ppt/notesSlides/notesSlide14.xml" Id="R29a71332713c4b68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2949a8ec35d24700" /><Relationship Type="http://schemas.openxmlformats.org/officeDocument/2006/relationships/notesSlide" Target="/ppt/notesSlides/notesSlide15.xml" Id="Rd8c2f0e3c5f0409c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8dd3e8c2d53043b9" /><Relationship Type="http://schemas.openxmlformats.org/officeDocument/2006/relationships/notesSlide" Target="/ppt/notesSlides/notesSlide16.xml" Id="R0973ad133b3b41e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5.xml" Id="Rde16e30bcbd0491b" /><Relationship Type="http://schemas.openxmlformats.org/officeDocument/2006/relationships/notesSlide" Target="/ppt/notesSlides/notesSlide17.xml" Id="Rab1d52a19bd94ce7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4.xml" Id="Rd90070bd0d434d0b" /><Relationship Type="http://schemas.openxmlformats.org/officeDocument/2006/relationships/notesSlide" Target="/ppt/notesSlides/notesSlide18.xml" Id="R8cde643055424f2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3.xml" Id="R17f0624f045244cc" /><Relationship Type="http://schemas.openxmlformats.org/officeDocument/2006/relationships/notesSlide" Target="/ppt/notesSlides/notesSlide19.xml" Id="R0dde7b4741ce4d09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64563372-4763-4FC2-816C-1147FBE5D48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Essential</a:t>
            </a:r>
            <a:endParaRPr/>
          </a:p>
          <a:p xmlns:a="http://schemas.openxmlformats.org/drawingml/2006/main">
            <a:pPr>
              <a:defRPr sz="2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28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생성형 AI 실전 활용 8시간 과정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89A35AFF-A5C5-4120-BEC7-CDEC493CB267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심층 리서치 기반 커리큘럼 설계안</a:t>
            </a:r>
          </a:p>
          <a:p xmlns:a="http://schemas.openxmlformats.org/drawingml/2006/main">
            <a:pPr>
              <a:defRPr sz="13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3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2026.08 · AI 교육 세미나</a:t>
            </a:r>
            <a:endParaRPr>
              <a:latin typeface="+mj-ea"/>
              <a:ea typeface="+mj-ea"/>
              <a:cs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103618516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A89833CD-3D95-455B-BD58-25001AC625D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  |  도구 사용법이 아니라 ‘내 업무를 AI와 끝내는 능력’ 확보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4DA2AFC-F8C1-4036-83F8-B77D9BB26914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구성  |  50분 × 8교시 · 이론/시연 25분 + 실습/피드백 25분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3838A8A5-B6DE-403F-8FE2-C6E05D9FBCF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rPr>
              <a:t>성과  |  근거 기반 리서치 → 문서 → 시각물 → 검증까지 통합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6629291-66BB-4857-AB7E-FF1AD8B5303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 결론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036A56C3-7FC0-4421-AA2B-EF28E34B23F7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/>
        <p:txBody>
          <a:bodyPr xmlns:a="http://schemas.openxmlformats.org/drawingml/2006/main">
            <a:normAutofit fontScale="72994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전 직원 공통 AI Literacy를 실제 업무 흐름으로 학습</a:t>
            </a:r>
            <a:endParaRPr/>
          </a:p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각 교시마다 재사용 가능한 산출물 1개 완성</a:t>
            </a:r>
            <a:endParaRPr/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2DFEA238-FF8E-4284-976B-612345734368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9A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429A0"/>
                </a:solidFill>
                <a:latin typeface="맑은 고딕"/>
                <a:ea typeface="맑은 고딕"/>
                <a:cs typeface="맑은 고딕"/>
              </a:rPr>
              <a:t>운영 제안  |  공개·교육용 자료로 실습하고 사내 데이터는 DS Assistant 사용</a:t>
            </a:r>
            <a:endParaRPr/>
          </a:p>
        </p:txBody>
      </p:sp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0E39594C-11E6-467A-9E5E-10B088F8CB3B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45C0603A-6844-456A-AD64-85609C6F333A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 방식</a:t>
            </a:r>
            <a:endParaRPr/>
          </a:p>
        </p:txBody>
      </p:sp>
      <p:sp>
        <p:nvSpPr>
          <p:cNvPr id="19" name="텍스트 개체 틀 18">
            <a:extLst xmlns:a="http://schemas.openxmlformats.org/drawingml/2006/main">
              <a:ext uri="{FF2B5EF4-FFF2-40B4-BE49-F238E27FC236}">
                <a16:creationId xmlns:a16="http://schemas.microsoft.com/office/drawing/2014/main" id="{A34DE5EA-7966-41EB-B09E-3A9EF63E0F9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>
            <a:normAutofit fontScale="72994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Capstone 70% + 과정 실습 30%</a:t>
            </a:r>
            <a:endParaRPr/>
          </a:p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정확성·활용성·검증·보안을 함께 평가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24096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Skills Gap이 기업 전환의 병목이다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2030년까지 직무 스킬의 약 40%가 바뀌고, AI Literacy는 전 직원 공통 역량이 된다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변화 압력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1) WEF: 고용주의 63%가 Skills Gap을 전환의 최대 장애로 인식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2) 100명 중 59명은 2030년까지 재교육·향상이 필요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교육 시사점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고급 AI 개발자는 소수지만, 대부분의 직원은 일반 AI 활용 역량이 필요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비판적 사고·창의성·협업을 AI 활용과 함께 훈련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38DD5B-63F6-4572-BD13-73993F7A3E74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6242D8CC-DC64-4FF5-9126-A3D45744C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생산성은 오르지만, AI는 항상 안전하지 않다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A758A07-FEA0-4706-8FA0-56B11A6AAAA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AI의 강점 범위 안에서는 성과가 커지고, 범위를 벗어나면 오답 위험이 증가한다</a:t>
            </a:r>
            <a:endParaRPr/>
          </a:p>
        </p:txBody>
      </p:sp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CA1B49E3-88FC-4E2E-A371-B0633CD26D7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교육 목표  |  더 많이 쓰는 법이 아니라 ‘언제 쓰고 어떻게 검증할지’ 판단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EC3EFC39-C328-47A9-9E4A-F9DD35701664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현장 실증 연구가 보여주는 기회와 위험</a:t>
            </a:r>
            <a:endParaRPr/>
          </a:p>
        </p:txBody>
      </p:sp>
      <p:graphicFrame>
        <p:nvGraphicFramePr>
          <p:cNvPr id="48" name="표 62"/>
          <p:cNvGraphicFramePr/>
          <p:nvPr/>
        </p:nvGraphicFramePr>
        <p:xfrm>
          <a:off xmlns:a="http://schemas.openxmlformats.org/drawingml/2006/main" x="327161" y="2169180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표 71"/>
          <p:cNvGraphicFramePr/>
          <p:nvPr/>
        </p:nvGraphicFramePr>
        <p:xfrm>
          <a:off xmlns:a="http://schemas.openxmlformats.org/drawingml/2006/main" x="4652133" y="2166578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8C6E3625-0669-461C-A809-4F1B688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완료 업무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+12.2%</a:t>
            </a:r>
          </a:p>
        </p:txBody>
      </p:sp>
      <p:sp>
        <p:nvSpPr>
          <p:cNvPr id="2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C462287-B02A-4D4D-A7AB-100651E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처리 속도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+25.1%</a:t>
            </a:r>
          </a:p>
        </p:txBody>
      </p:sp>
      <p:sp>
        <p:nvSpPr>
          <p:cNvPr id="2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A78336D0-59C8-4E6A-860E-23DF5E44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산출물 품질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유의미한 향상</a:t>
            </a:r>
          </a:p>
        </p:txBody>
      </p:sp>
      <p:sp>
        <p:nvSpPr>
          <p:cNvPr id="2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2B2AE3A-2E2C-432A-88FA-CF27486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낮은 성과자일수록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개선 폭 큼</a:t>
            </a:r>
          </a:p>
        </p:txBody>
      </p:sp>
      <p:sp>
        <p:nvSpPr>
          <p:cNvPr id="29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C898ED9-C2D1-439B-8B5C-5880ADB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경계 밖 과제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정답 가능성 −19%</a:t>
            </a:r>
          </a:p>
        </p:txBody>
      </p:sp>
      <p:sp>
        <p:nvSpPr>
          <p:cNvPr id="30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0CB2B975-3280-4382-98F5-BC23EC5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그럴듯한 오답을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사실처럼 제시</a:t>
            </a:r>
          </a:p>
        </p:txBody>
      </p:sp>
      <p:sp>
        <p:nvSpPr>
          <p:cNvPr id="31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35BA2224-88C2-4AF6-BF69-3A6C87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도구가 잘하는 과제와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못하는 과제 구분</a:t>
            </a:r>
          </a:p>
        </p:txBody>
      </p:sp>
      <p:sp>
        <p:nvSpPr>
          <p:cNvPr id="3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A3A8233-4A03-476E-B29F-2D952F2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출처·반증·사람 검토를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Workflow에 내장</a:t>
            </a:r>
          </a:p>
        </p:txBody>
      </p:sp>
      <p:sp>
        <p:nvSpPr>
          <p:cNvPr id="3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690027C-D655-4120-A460-027F490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166578"/>
            <a:ext cx="994589" cy="626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업무량</a:t>
            </a:r>
            <a:endParaRPr/>
          </a:p>
        </p:txBody>
      </p:sp>
      <p:sp>
        <p:nvSpPr>
          <p:cNvPr id="3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0E5CEB0-E158-441B-A395-19BEAAF0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속도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31E0779-4FE3-4F5B-A8A1-3863142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5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품질</a:t>
            </a:r>
            <a:endParaRPr/>
          </a:p>
        </p:txBody>
      </p:sp>
      <p:sp>
        <p:nvSpPr>
          <p:cNvPr id="3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DE6608A-B5E3-44C9-A1EE-F42B7AD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초보자</a:t>
            </a:r>
            <a:endParaRPr/>
          </a:p>
        </p:txBody>
      </p:sp>
      <p:sp>
        <p:nvSpPr>
          <p:cNvPr id="37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2A2DB8B-F98E-4F37-B438-D17DA31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166578"/>
            <a:ext cx="994589" cy="639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정확성</a:t>
            </a:r>
          </a:p>
        </p:txBody>
      </p:sp>
      <p:sp>
        <p:nvSpPr>
          <p:cNvPr id="38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AE9BA5D-6F55-4FDB-865B-E2D861E6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60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환각</a:t>
            </a:r>
            <a:endParaRPr/>
          </a:p>
        </p:txBody>
      </p:sp>
      <p:sp>
        <p:nvSpPr>
          <p:cNvPr id="39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3912E2-F136-4B42-A56F-B65D106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경계</a:t>
            </a:r>
            <a:endParaRPr/>
          </a:p>
        </p:txBody>
      </p:sp>
      <p:sp>
        <p:nvSpPr>
          <p:cNvPr id="4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15C05B1-6590-4307-B884-38F8043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통제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883448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C175C12-AFF3-49FE-A280-9F27E427D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개발보다 ‘AI와 협업하는 능력’을 정의한다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94357B9-DA13-4998-9A68-5B3CCEDB90A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전 직원 과정은 모델 지식보다 과업 분해·근거·검증·책임을 중심으로 설계한다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A53AA53A-0887-495F-AA19-9A348AD13B9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Course Competency  |  Frame → Ground → Create → Verify → Apply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47F13260-2199-4296-A764-671D9AF0363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graphicFrame>
        <p:nvGraphicFramePr>
          <p:cNvPr id="62" name="표 18"/>
          <p:cNvGraphicFramePr/>
          <p:nvPr/>
        </p:nvGraphicFramePr>
        <p:xfrm>
          <a:off xmlns:a="http://schemas.openxmlformats.org/drawingml/2006/main" x="366590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표 19"/>
          <p:cNvGraphicFramePr/>
          <p:nvPr/>
        </p:nvGraphicFramePr>
        <p:xfrm>
          <a:off xmlns:a="http://schemas.openxmlformats.org/drawingml/2006/main" x="4660851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DECE75F-701B-4DEB-8784-10D263A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목표·맥락·제약·도구·완료 기준을 명시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복잡한 일을 단계와 산출물로 분해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855861F-AD30-45E4-BD10-4D3E054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64" y="1754781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협업 핵심 역량</a:t>
            </a:r>
            <a:endParaRPr/>
          </a:p>
        </p:txBody>
      </p:sp>
      <p:sp>
        <p:nvSpPr>
          <p:cNvPr id="3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1611A1AF-8642-462D-AD22-15A1F23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86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근거와 검증</a:t>
            </a:r>
            <a:endParaRPr/>
          </a:p>
        </p:txBody>
      </p:sp>
      <p:sp>
        <p:nvSpPr>
          <p:cNvPr id="3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EF0E9A09-89F1-44B8-B449-5C3743D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범위와 출처를 지정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불확실성·반증·누락을 확인</a:t>
            </a:r>
            <a:endParaRPr/>
          </a:p>
        </p:txBody>
      </p:sp>
      <p:sp>
        <p:nvSpPr>
          <p:cNvPr id="38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03E3C0D-B56D-4AAE-90BD-C20C466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2098406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다음 날 적용</a:t>
            </a:r>
            <a:endParaRPr/>
          </a:p>
        </p:txBody>
      </p:sp>
      <p:sp>
        <p:nvSpPr>
          <p:cNvPr id="3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DC4544C-211C-4377-8930-4F2B741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회의·리서치·보고·교육자료에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재사용 가능한 Workflow 적용</a:t>
            </a:r>
            <a:endParaRPr/>
          </a:p>
        </p:txBody>
      </p:sp>
      <p:sp>
        <p:nvSpPr>
          <p:cNvPr id="4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EB0A7B9-5140-4615-9F24-0211378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책임 있는 사용</a:t>
            </a:r>
            <a:endParaRPr/>
          </a:p>
        </p:txBody>
      </p:sp>
      <p:sp>
        <p:nvSpPr>
          <p:cNvPr id="4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50A48BB-E3BF-456B-9684-A3FFC67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기밀정보 입력 금지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최종 판단과 승인 책임은 사람에게 유지</a:t>
            </a:r>
            <a:endParaRPr/>
          </a:p>
        </p:txBody>
      </p:sp>
      <p:sp>
        <p:nvSpPr>
          <p:cNvPr id="5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0135E2A-37B5-4C55-BE85-81184A3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14" y="1762122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과정 수료 후 행동</a:t>
            </a:r>
            <a:endParaRPr/>
          </a:p>
        </p:txBody>
      </p:sp>
      <p:sp>
        <p:nvSpPr>
          <p:cNvPr id="5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910E3AC-D9FB-45A6-B673-9AA7556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" y="2136463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과업 설계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3253259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A4BC1E82-0344-4A43-8B4B-9D092DACD75C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6" name="제목 5">
            <a:extLst xmlns:a="http://schemas.openxmlformats.org/drawingml/2006/main">
              <a:ext uri="{FF2B5EF4-FFF2-40B4-BE49-F238E27FC236}">
                <a16:creationId xmlns:a16="http://schemas.microsoft.com/office/drawing/2014/main" id="{86CFCFDD-41F9-4C87-85FA-BA7BA3BB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세 가지 원칙으로 8시간을 설계한다</a:t>
            </a:r>
            <a:endParaRPr/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46D5FF29-631B-485B-BA30-43FA207103D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나열을 줄이고, 근거 기반 Workflow와 반복 실습을 강화한다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E35685B-C3F4-4BD5-A03D-259CC5E0501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공통 수업 리듬  |  개념 15분 → 시연 10분 → 실습 20분 → 피드백 5분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75D3891F-4AFD-46E0-BF0D-A8A60C14F569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기존 도구 교육에서 실전 역량 교육으로</a:t>
            </a:r>
            <a:endParaRPr/>
          </a:p>
        </p:txBody>
      </p:sp>
      <p:graphicFrame>
        <p:nvGraphicFramePr>
          <p:cNvPr id="30" name="표 35"/>
          <p:cNvGraphicFramePr/>
          <p:nvPr/>
        </p:nvGraphicFramePr>
        <p:xfrm>
          <a:off xmlns:a="http://schemas.openxmlformats.org/drawingml/2006/main" x="353247" y="2211973"/>
          <a:ext xmlns:a="http://schemas.openxmlformats.org/drawingml/2006/main" cx="4934463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240"/>
                <a:gridCol w="369122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4724D2BE-C9F7-4E50-A42D-A2331EC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2224178"/>
            <a:ext cx="3422602" cy="616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기능 중심 → 업무 Workflow 중심</a:t>
            </a:r>
          </a:p>
        </p:txBody>
      </p:sp>
      <p:sp>
        <p:nvSpPr>
          <p:cNvPr id="1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111E32AA-6DCF-453B-8AA7-B10E061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2840734"/>
            <a:ext cx="3434203" cy="609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막연한 질문 → 목표·자료·제약·기준</a:t>
            </a:r>
          </a:p>
        </p:txBody>
      </p:sp>
      <p:sp>
        <p:nvSpPr>
          <p:cNvPr id="1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0004645-F7B4-480D-8F6B-A4FAABD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3457289"/>
            <a:ext cx="3422602" cy="619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답변 복사 → 문서·시각물·도구 완성</a:t>
            </a:r>
          </a:p>
        </p:txBody>
      </p:sp>
      <p:sp>
        <p:nvSpPr>
          <p:cNvPr id="19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BEBEEFEB-FACB-4D86-8B06-4B22E43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4066222"/>
            <a:ext cx="3422602" cy="6160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일회성 시연 → 반복 실습·상호 피드백</a:t>
            </a:r>
          </a:p>
        </p:txBody>
      </p:sp>
      <p:sp>
        <p:nvSpPr>
          <p:cNvPr id="2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21FFC03-7700-4720-9529-982C85D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9" y="2247797"/>
            <a:ext cx="1177839" cy="5591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60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중심</a:t>
            </a:r>
          </a:p>
        </p:txBody>
      </p:sp>
      <p:sp>
        <p:nvSpPr>
          <p:cNvPr id="21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72427F5-6C95-4579-9C2B-F64A7A4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9" y="2852211"/>
            <a:ext cx="1177839" cy="5708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입력</a:t>
            </a:r>
            <a:endParaRPr/>
          </a:p>
        </p:txBody>
      </p:sp>
      <p:sp>
        <p:nvSpPr>
          <p:cNvPr id="2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43B192F-8FC5-4C6A-816A-AEEBE87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0" y="3461089"/>
            <a:ext cx="1177839" cy="605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산출</a:t>
            </a:r>
            <a:endParaRPr/>
          </a:p>
        </p:txBody>
      </p:sp>
      <p:sp>
        <p:nvSpPr>
          <p:cNvPr id="2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0533861-458C-41FA-9DF0-18063402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0" y="4077167"/>
            <a:ext cx="1177839" cy="598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학습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2735992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8개 교시를 하나의 AI Workflow로 연결한다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각 교시의 산출물이 마지막 Capstone에서 다시 조립되도록 설계한다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36886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이해와 입력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1교시 Context Engineering  → Prompt Makeover Card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2교시 Multimodal 입력      → 진단 체크리스트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근거와 생성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3교시 Source-grounded 지식 → Knowledge Pack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4교시 Search/Deep Research  → Evidence Brief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5교시 문서 Workflow        → 1-page Report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6교시 이미지·PPT           → 3-slide Mini Deck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적용과 검증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7교시 No-code Interactive  → Prototype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8교시 Capstone             → 통합 업무 패키지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1교시  |  Context Engineering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좋은 답변보다 좋은 업무 시스템을 설계한다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73856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핵심 개념  |  Goal · Source · Constraint · Tool · Criteria · Feedback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1) Role Prompt는 마법이 아니며, 단계적 추론도 항상 기본값은 아님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2) 결과물 정의와 검증 기준이 Prompt 문장보다 중요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실습  |  Prompt Makeover Lab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모호한 업무 요청을 Context Pack으로 재설계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입력자료·완료조건·금지조건·검토 Loop를 추가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산출물  |  재사용 가능한 Prompt Makeover Card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2교시  |  이미지·파일·음성을 함께 읽히기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Multimodal 입력은 설명을 줄이고, 관찰 근거를 늘린다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61841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핵심 개념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1) 이미지: 관찰 사실과 해석을 분리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2) 파일: 범위·페이지·표·단위를 지정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3) 음성: 발화자·결정·Action Item을 구조화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실습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공개 설비 사진 + 매뉴얼 PDF를 비교해 이상 징후 가설 작성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음성 메모를 결정/담당/기한 표로 변환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산출물  |  Multimodal 진단 체크리스트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C175C12-AFF3-49FE-A280-9F27E427D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3교시  |  출처 기반 지식 패키지 만들기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94357B9-DA13-4998-9A68-5B3CCEDB90A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검색 결과를 복사하지 않고, 지정 자료 안에서 요약·학습·전달 산출물을 만든다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A53AA53A-0887-495F-AA19-9A348AD13B9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Tools  |  Gemini Notebook(NotebookLM) · Lilys.ai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47F13260-2199-4296-A764-671D9AF0363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graphicFrame>
        <p:nvGraphicFramePr>
          <p:cNvPr id="62" name="표 18"/>
          <p:cNvGraphicFramePr/>
          <p:nvPr/>
        </p:nvGraphicFramePr>
        <p:xfrm>
          <a:off xmlns:a="http://schemas.openxmlformats.org/drawingml/2006/main" x="366590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표 19"/>
          <p:cNvGraphicFramePr/>
          <p:nvPr/>
        </p:nvGraphicFramePr>
        <p:xfrm>
          <a:off xmlns:a="http://schemas.openxmlformats.org/drawingml/2006/main" x="4660851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DECE75F-701B-4DEB-8784-10D263A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PDF·웹·영상 URL을 입력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자료 범위와 질문을 명시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855861F-AD30-45E4-BD10-4D3E054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64" y="1754781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Source Grounding</a:t>
            </a:r>
            <a:endParaRPr/>
          </a:p>
        </p:txBody>
      </p:sp>
      <p:sp>
        <p:nvSpPr>
          <p:cNvPr id="3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1611A1AF-8642-462D-AD22-15A1F23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86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근거 구조화</a:t>
            </a:r>
            <a:endParaRPr/>
          </a:p>
        </p:txBody>
      </p:sp>
      <p:sp>
        <p:nvSpPr>
          <p:cNvPr id="3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EF0E9A09-89F1-44B8-B449-5C3743D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핵심 주장·근거·인용 위치를 표로 정리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출처 없는 주장은 제외</a:t>
            </a:r>
            <a:endParaRPr/>
          </a:p>
        </p:txBody>
      </p:sp>
      <p:sp>
        <p:nvSpPr>
          <p:cNvPr id="38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03E3C0D-B56D-4AAE-90BD-C20C466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2098406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학습 산출물</a:t>
            </a:r>
            <a:endParaRPr/>
          </a:p>
        </p:txBody>
      </p:sp>
      <p:sp>
        <p:nvSpPr>
          <p:cNvPr id="3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DC4544C-211C-4377-8930-4F2B741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요약·FAQ·퀴즈·Mind Map·Audio/Video Overview</a:t>
            </a:r>
          </a:p>
        </p:txBody>
      </p:sp>
      <p:sp>
        <p:nvSpPr>
          <p:cNvPr id="4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EB0A7B9-5140-4615-9F24-0211378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실습 결과</a:t>
            </a:r>
            <a:endParaRPr/>
          </a:p>
        </p:txBody>
      </p:sp>
      <p:sp>
        <p:nvSpPr>
          <p:cNvPr id="4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50A48BB-E3BF-456B-9684-A3FFC67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기술자료 3개로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‘10분 교육 패키지’ 완성</a:t>
            </a:r>
            <a:endParaRPr/>
          </a:p>
        </p:txBody>
      </p:sp>
      <p:sp>
        <p:nvSpPr>
          <p:cNvPr id="5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0135E2A-37B5-4C55-BE85-81184A3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14" y="1762122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Knowledge Pack</a:t>
            </a:r>
            <a:endParaRPr/>
          </a:p>
        </p:txBody>
      </p:sp>
      <p:sp>
        <p:nvSpPr>
          <p:cNvPr id="5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910E3AC-D9FB-45A6-B673-9AA7556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" y="2136463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자료 수집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325325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38DD5B-63F6-4572-BD13-73993F7A3E74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6242D8CC-DC64-4FF5-9126-A3D45744C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4교시  |  Search vs. Deep Research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A758A07-FEA0-4706-8FA0-56B11A6AAAA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빠른 사실 확인과 다단계 조사에는 서로 다른 시간·도구·검증 방식이 필요하다</a:t>
            </a:r>
            <a:endParaRPr/>
          </a:p>
        </p:txBody>
      </p:sp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CA1B49E3-88FC-4E2E-A371-B0633CD26D7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Tools  |  ChatGPT · Gemini · Perplexity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EC3EFC39-C328-47A9-9E4A-F9DD35701664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질문 복잡도에 따른 조사 방식 선택</a:t>
            </a:r>
            <a:endParaRPr/>
          </a:p>
        </p:txBody>
      </p:sp>
      <p:graphicFrame>
        <p:nvGraphicFramePr>
          <p:cNvPr id="48" name="표 62"/>
          <p:cNvGraphicFramePr/>
          <p:nvPr/>
        </p:nvGraphicFramePr>
        <p:xfrm>
          <a:off xmlns:a="http://schemas.openxmlformats.org/drawingml/2006/main" x="327161" y="2169180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표 71"/>
          <p:cNvGraphicFramePr/>
          <p:nvPr/>
        </p:nvGraphicFramePr>
        <p:xfrm>
          <a:off xmlns:a="http://schemas.openxmlformats.org/drawingml/2006/main" x="4652133" y="2166578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8C6E3625-0669-461C-A809-4F1B688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정의·현황·한두 개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확인</a:t>
            </a:r>
          </a:p>
        </p:txBody>
      </p:sp>
      <p:sp>
        <p:nvSpPr>
          <p:cNvPr id="2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C462287-B02A-4D4D-A7AB-100651E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수 분 이내</a:t>
            </a:r>
          </a:p>
        </p:txBody>
      </p:sp>
      <p:sp>
        <p:nvSpPr>
          <p:cNvPr id="2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A78336D0-59C8-4E6A-860E-23DF5E44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링크가 붙은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짧은 답변</a:t>
            </a:r>
          </a:p>
        </p:txBody>
      </p:sp>
      <p:sp>
        <p:nvSpPr>
          <p:cNvPr id="2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2B2AE3A-2E2C-432A-88FA-CF27486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ChatGPT/Gemini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Perplexity Search</a:t>
            </a:r>
          </a:p>
        </p:txBody>
      </p:sp>
      <p:sp>
        <p:nvSpPr>
          <p:cNvPr id="29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C898ED9-C2D1-439B-8B5C-5880ADB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비교·원인·대안·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의사결정 지원</a:t>
            </a:r>
          </a:p>
        </p:txBody>
      </p:sp>
      <p:sp>
        <p:nvSpPr>
          <p:cNvPr id="30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0CB2B975-3280-4382-98F5-BC23EC5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조사 계획 → 탐색 →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교차검증 → 종합</a:t>
            </a:r>
          </a:p>
        </p:txBody>
      </p:sp>
      <p:sp>
        <p:nvSpPr>
          <p:cNvPr id="31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35BA2224-88C2-4AF6-BF69-3A6C87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근거·한계·인용이 있는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Research Brief</a:t>
            </a:r>
          </a:p>
        </p:txBody>
      </p:sp>
      <p:sp>
        <p:nvSpPr>
          <p:cNvPr id="3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A3A8233-4A03-476E-B29F-2D952F2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ChatGPT Deep Research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Gemini/Perplexity</a:t>
            </a:r>
          </a:p>
        </p:txBody>
      </p:sp>
      <p:sp>
        <p:nvSpPr>
          <p:cNvPr id="3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690027C-D655-4120-A460-027F490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166578"/>
            <a:ext cx="994589" cy="626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</a:t>
            </a:r>
            <a:endParaRPr/>
          </a:p>
        </p:txBody>
      </p:sp>
      <p:sp>
        <p:nvSpPr>
          <p:cNvPr id="3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0E5CEB0-E158-441B-A395-19BEAAF0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시간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31E0779-4FE3-4F5B-A8A1-3863142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5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/>
          </a:p>
        </p:txBody>
      </p:sp>
      <p:sp>
        <p:nvSpPr>
          <p:cNvPr id="3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DE6608A-B5E3-44C9-A1EE-F42B7AD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</a:t>
            </a:r>
            <a:endParaRPr/>
          </a:p>
        </p:txBody>
      </p:sp>
      <p:sp>
        <p:nvSpPr>
          <p:cNvPr id="37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2A2DB8B-F98E-4F37-B438-D17DA31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166578"/>
            <a:ext cx="994589" cy="639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목표</a:t>
            </a:r>
          </a:p>
        </p:txBody>
      </p:sp>
      <p:sp>
        <p:nvSpPr>
          <p:cNvPr id="38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AE9BA5D-6F55-4FDB-865B-E2D861E6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60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절차</a:t>
            </a:r>
            <a:endParaRPr/>
          </a:p>
        </p:txBody>
      </p:sp>
      <p:sp>
        <p:nvSpPr>
          <p:cNvPr id="39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3912E2-F136-4B42-A56F-B65D106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출력</a:t>
            </a:r>
            <a:endParaRPr/>
          </a:p>
        </p:txBody>
      </p:sp>
      <p:sp>
        <p:nvSpPr>
          <p:cNvPr id="4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15C05B1-6590-4307-B884-38F8043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8834482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5교시  |  회의·보고·교육 문서 Workflow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초안을 쓰는 데서 끝내지 않고, 의사결정 가능한 문서로 다듬는다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43818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문서 Pipeline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원문 정리 → 핵심 요약 → 결정/Action/Risk → 독자별 재작성 → 품질 점검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실습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공개 회의록을 3줄 요약 + 의사결정표 + Action Item으로 변환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경영진 1-page / 실무자 상세본 두 버전 생성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Tools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공개·교육용: ChatGPT, Claude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사내 업무: DS Assistant 및 사내 정책 준수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산출물  |  1-page Decision Report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C175C12-AFF3-49FE-A280-9F27E427D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6교시  |  이미지와 PPT로 메시지 시각화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94357B9-DA13-4998-9A68-5B3CCEDB90A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예쁜 그림보다 전달 목표·정보 계층·사실 정확성을 먼저 설계한다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A53AA53A-0887-495F-AA19-9A348AD13B9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Tools  |  ChatGPT/Gemini 이미지 · Gamma.app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47F13260-2199-4296-A764-671D9AF0363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graphicFrame>
        <p:nvGraphicFramePr>
          <p:cNvPr id="62" name="표 18"/>
          <p:cNvGraphicFramePr/>
          <p:nvPr/>
        </p:nvGraphicFramePr>
        <p:xfrm>
          <a:off xmlns:a="http://schemas.openxmlformats.org/drawingml/2006/main" x="366590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표 19"/>
          <p:cNvGraphicFramePr/>
          <p:nvPr/>
        </p:nvGraphicFramePr>
        <p:xfrm>
          <a:off xmlns:a="http://schemas.openxmlformats.org/drawingml/2006/main" x="4660851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DECE75F-701B-4DEB-8784-10D263A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목적·대상·구도·스타일·금지요소 정의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후보 3개를 비교·개선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855861F-AD30-45E4-BD10-4D3E054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64" y="1754781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Visual Brief</a:t>
            </a:r>
            <a:endParaRPr/>
          </a:p>
        </p:txBody>
      </p:sp>
      <p:sp>
        <p:nvSpPr>
          <p:cNvPr id="3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1611A1AF-8642-462D-AD22-15A1F23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86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사실 통제</a:t>
            </a:r>
            <a:endParaRPr/>
          </a:p>
        </p:txBody>
      </p:sp>
      <p:sp>
        <p:nvSpPr>
          <p:cNvPr id="3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EF0E9A09-89F1-44B8-B449-5C3743D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정확한 수치·라벨·공정도는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편집 가능한 도형·표로 작성</a:t>
            </a:r>
            <a:endParaRPr/>
          </a:p>
        </p:txBody>
      </p:sp>
      <p:sp>
        <p:nvSpPr>
          <p:cNvPr id="38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03E3C0D-B56D-4AAE-90BD-C20C466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2098406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스토리 구조</a:t>
            </a:r>
            <a:endParaRPr/>
          </a:p>
        </p:txBody>
      </p:sp>
      <p:sp>
        <p:nvSpPr>
          <p:cNvPr id="3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DC4544C-211C-4377-8930-4F2B741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장 한 메시지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 → 해석 → 제안 순서</a:t>
            </a:r>
            <a:endParaRPr/>
          </a:p>
        </p:txBody>
      </p:sp>
      <p:sp>
        <p:nvSpPr>
          <p:cNvPr id="4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EB0A7B9-5140-4615-9F24-0211378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실습 결과</a:t>
            </a:r>
            <a:endParaRPr/>
          </a:p>
        </p:txBody>
      </p:sp>
      <p:sp>
        <p:nvSpPr>
          <p:cNvPr id="4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50A48BB-E3BF-456B-9684-A3FFC67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Evidence Brief를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3-slide Mini Deck으로 전환</a:t>
            </a:r>
            <a:endParaRPr/>
          </a:p>
        </p:txBody>
      </p:sp>
      <p:sp>
        <p:nvSpPr>
          <p:cNvPr id="5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0135E2A-37B5-4C55-BE85-81184A3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14" y="1762122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Presentation Workflow</a:t>
            </a:r>
            <a:endParaRPr/>
          </a:p>
        </p:txBody>
      </p:sp>
      <p:sp>
        <p:nvSpPr>
          <p:cNvPr id="5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910E3AC-D9FB-45A6-B673-9AA7556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" y="2136463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이미지 생성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3253259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7교시  |  코딩 없이 인터랙티브 산출물 만들기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문서로 설명하던 규칙을 직접 써보는 도구로 전환한다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36886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활용 사례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1) 교육 Quiz · 의사결정 Checklist · 간단 Calculator · FAQ Tool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2) 사용자의 입력과 결과 규칙을 자연어로 정의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실습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Claude Artifacts 또는 Perplexity Create로 업무 보조 도구 제작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입력값·결과·오류 상태·사용 안내를 점검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품질 기준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업무 로직은 공개·교육용 예시만 사용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- 산출물은 ‘코드 교육’이 아니라 No-code AI 활용 경험으로 운영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4. 산출물  |  Shareable Interactive Prototype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제목 4">
            <a:extLst xmlns:a="http://schemas.openxmlformats.org/drawingml/2006/main">
              <a:ext uri="{FF2B5EF4-FFF2-40B4-BE49-F238E27FC236}">
                <a16:creationId xmlns:a16="http://schemas.microsoft.com/office/drawing/2014/main" id="{5047509B-DA16-47D1-A89F-8CE93795E65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50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8교시  |  Capstone: AI Workflow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D30EFD22-A28F-4A70-904D-9BE74D46422E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하나의 실제 업무 문제를 조사·문서화·시각화·검증까지 완결한다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956EE1EA-4FFE-4609-805C-94F83B9411AF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>
          <a:xfrm xmlns:a="http://schemas.openxmlformats.org/drawingml/2006/main">
            <a:off x="335043" y="1080990"/>
            <a:ext cx="8387953" cy="2221009"/>
          </a:xfrm>
        </p:spPr>
        <p:txBody>
          <a:bodyPr xmlns:a="http://schemas.openxmlformats.org/drawingml/2006/main" anchor="t">
            <a:normAutofit fontScale="61841"/>
          </a:bodyPr>
          <a:lstStyle xmlns:a="http://schemas.openxmlformats.org/drawingml/2006/main"/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1. 팀 과제  |  공개 주제 또는 교육용 업무 시나리오 선택</a:t>
            </a: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1) Context Pack과 조사 계획 수립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2) Search/Deep Research로 Evidence Brief 작성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3) 1-page Report와 3-slide Deck 제작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4) Prototype 또는 Knowledge Pack 1개 추가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rPr>
                <a:latin typeface="+mj-ea"/>
                <a:ea typeface="+mj-ea"/>
                <a:cs typeface="+mj-ea"/>
              </a:rP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2. Peer Review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 □ 출처 정확성 · 누락/반증 · 활용성 · 보안 준수 점검</a:t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</a:pPr>
            <a:r>
              <a:t/>
            </a:r>
            <a:endParaRPr>
              <a:latin typeface="+mj-ea"/>
              <a:ea typeface="+mj-ea"/>
              <a:cs typeface="+mj-ea"/>
            </a:endParaRPr>
          </a:p>
          <a:p xmlns:a="http://schemas.openxmlformats.org/drawingml/2006/main">
            <a:pPr marL="0" indent="0">
              <a:lnSpc>
                <a:spcPct val="120000"/>
              </a:lnSpc>
              <a:buNone/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3. 최종 산출물  |  재사용 가능한 AI 업무 패키지</a:t>
            </a:r>
            <a:endParaRPr>
              <a:latin typeface="+mj-ea"/>
              <a:ea typeface="+mj-ea"/>
              <a:cs typeface="+mj-ea"/>
            </a:endParaRPr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DD3485C9-496E-4F02-8099-CD85215E8837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010486347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D138DD5B-63F6-4572-BD13-73993F7A3E74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7" name="제목 6">
            <a:extLst xmlns:a="http://schemas.openxmlformats.org/drawingml/2006/main">
              <a:ext uri="{FF2B5EF4-FFF2-40B4-BE49-F238E27FC236}">
                <a16:creationId xmlns:a16="http://schemas.microsoft.com/office/drawing/2014/main" id="{6242D8CC-DC64-4FF5-9126-A3D45744C26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도구는 브랜드가 아니라 업무 단계로 선택한다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BA758A07-FEA0-4706-8FA0-56B11A6AAAA9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한 도구에 모든 일을 맡기지 않고, 강점과 데이터 경계를 기준으로 조합한다</a:t>
            </a:r>
            <a:endParaRPr/>
          </a:p>
        </p:txBody>
      </p:sp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CA1B49E3-88FC-4E2E-A371-B0633CD26D7C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허용 범위  |  ChatGPT · Gemini · Claude · Perplexity · Lilys.ai · Gamma · Gemini Notebook · DS Assistant</a:t>
            </a:r>
            <a:endParaRPr/>
          </a:p>
        </p:txBody>
      </p:sp>
      <p:sp>
        <p:nvSpPr>
          <p:cNvPr id="11" name="텍스트 개체 틀 10">
            <a:extLst xmlns:a="http://schemas.openxmlformats.org/drawingml/2006/main">
              <a:ext uri="{FF2B5EF4-FFF2-40B4-BE49-F238E27FC236}">
                <a16:creationId xmlns:a16="http://schemas.microsoft.com/office/drawing/2014/main" id="{EC3EFC39-C328-47A9-9E4A-F9DD35701664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Workflow별 권장 도구</a:t>
            </a:r>
            <a:endParaRPr/>
          </a:p>
        </p:txBody>
      </p:sp>
      <p:graphicFrame>
        <p:nvGraphicFramePr>
          <p:cNvPr id="48" name="표 62"/>
          <p:cNvGraphicFramePr/>
          <p:nvPr/>
        </p:nvGraphicFramePr>
        <p:xfrm>
          <a:off xmlns:a="http://schemas.openxmlformats.org/drawingml/2006/main" x="327161" y="2169180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9" name="표 71"/>
          <p:cNvGraphicFramePr/>
          <p:nvPr/>
        </p:nvGraphicFramePr>
        <p:xfrm>
          <a:off xmlns:a="http://schemas.openxmlformats.org/drawingml/2006/main" x="4652133" y="2166578"/>
          <a:ext xmlns:a="http://schemas.openxmlformats.org/drawingml/2006/main" cx="4165342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49459"/>
                <a:gridCol w="311588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5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8C6E3625-0669-461C-A809-4F1B688F2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ChatGPT / Gemini / Claude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초안·분석·재작성</a:t>
            </a:r>
          </a:p>
        </p:txBody>
      </p:sp>
      <p:sp>
        <p:nvSpPr>
          <p:cNvPr id="2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C462287-B02A-4D4D-A7AB-100651EA9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Perplexity / Search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빠른 출처 탐색</a:t>
            </a:r>
          </a:p>
        </p:txBody>
      </p:sp>
      <p:sp>
        <p:nvSpPr>
          <p:cNvPr id="2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A78336D0-59C8-4E6A-860E-23DF5E443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Deep Research /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Gemini Notebook</a:t>
            </a:r>
          </a:p>
        </p:txBody>
      </p:sp>
      <p:sp>
        <p:nvSpPr>
          <p:cNvPr id="2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2B2AE3A-2E2C-432A-88FA-CF27486086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7685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DS Assistant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사내 정책·내부 데이터</a:t>
            </a:r>
          </a:p>
        </p:txBody>
      </p:sp>
      <p:sp>
        <p:nvSpPr>
          <p:cNvPr id="29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5C898ED9-C2D1-439B-8B5C-5880ADB39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166578"/>
            <a:ext cx="2838184" cy="6261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ChatGPT / Gemini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이미지·파일·음성</a:t>
            </a:r>
          </a:p>
        </p:txBody>
      </p:sp>
      <p:sp>
        <p:nvSpPr>
          <p:cNvPr id="30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0CB2B975-3280-4382-98F5-BC23EC556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2792688"/>
            <a:ext cx="2838184" cy="60099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Gamma.app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PPT 초안·구조화</a:t>
            </a:r>
          </a:p>
        </p:txBody>
      </p:sp>
      <p:sp>
        <p:nvSpPr>
          <p:cNvPr id="31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35BA2224-88C2-4AF6-BF69-3A6C8774A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3393683"/>
            <a:ext cx="2838184" cy="60821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Claude Artifacts /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Perplexity Create</a:t>
            </a:r>
          </a:p>
        </p:txBody>
      </p:sp>
      <p:sp>
        <p:nvSpPr>
          <p:cNvPr id="32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A3A8233-4A03-476E-B29F-2D952F2A7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2790" y="4004499"/>
            <a:ext cx="2838184" cy="61321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Lilys.ai</a:t>
            </a:r>
          </a:p>
          <a:p xmlns:a="http://schemas.openxmlformats.org/drawingml/2006/main">
            <a:pPr>
              <a:def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영상 요약</a:t>
            </a:r>
          </a:p>
        </p:txBody>
      </p:sp>
      <p:sp>
        <p:nvSpPr>
          <p:cNvPr id="3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690027C-D655-4120-A460-027F49037B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166578"/>
            <a:ext cx="994589" cy="62611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범용</a:t>
            </a:r>
            <a:endParaRPr/>
          </a:p>
        </p:txBody>
      </p:sp>
      <p:sp>
        <p:nvSpPr>
          <p:cNvPr id="34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B0E5CEB0-E158-441B-A395-19BEAAF04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탐색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831E0779-4FE3-4F5B-A8A1-3863142655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355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</a:t>
            </a:r>
            <a:endParaRPr/>
          </a:p>
        </p:txBody>
      </p:sp>
      <p:sp>
        <p:nvSpPr>
          <p:cNvPr id="36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DE6608A-B5E3-44C9-A1EE-F42B7ADE3C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207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사내</a:t>
            </a:r>
            <a:endParaRPr/>
          </a:p>
        </p:txBody>
      </p:sp>
      <p:sp>
        <p:nvSpPr>
          <p:cNvPr id="37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2A2DB8B-F98E-4F37-B438-D17DA31188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166578"/>
            <a:ext cx="994589" cy="6398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멀티모달</a:t>
            </a:r>
          </a:p>
        </p:txBody>
      </p:sp>
      <p:sp>
        <p:nvSpPr>
          <p:cNvPr id="38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EAE9BA5D-6F55-4FDB-865B-E2D861E6EA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9460" y="3429354"/>
            <a:ext cx="991441" cy="54961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시각화</a:t>
            </a:r>
            <a:endParaRPr/>
          </a:p>
        </p:txBody>
      </p:sp>
      <p:sp>
        <p:nvSpPr>
          <p:cNvPr id="39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9E3912E2-F136-4B42-A56F-B65D106FF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4026771"/>
            <a:ext cx="991441" cy="57514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프로토타입</a:t>
            </a:r>
            <a:endParaRPr/>
          </a:p>
        </p:txBody>
      </p:sp>
      <p:sp>
        <p:nvSpPr>
          <p:cNvPr id="4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A15C05B1-6590-4307-B884-38F80432B5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312" y="2792689"/>
            <a:ext cx="991441" cy="6111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j-ea"/>
                <a:ea typeface="+mj-ea"/>
                <a:cs typeface="+mj-ea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영상요약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2528834482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A4BC1E82-0344-4A43-8B4B-9D092DACD75C}"/>
              </a:ext>
            </a:extLst>
          </p:cNvPr>
          <p:cNvSpPr>
            <a:spLocks xmlns:a="http://schemas.openxmlformats.org/drawingml/2006/main" noGrp="1"/>
          </p:cNvSpPr>
          <p:nvPr>
            <p:ph type="body" idx="36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6" name="제목 5">
            <a:extLst xmlns:a="http://schemas.openxmlformats.org/drawingml/2006/main">
              <a:ext uri="{FF2B5EF4-FFF2-40B4-BE49-F238E27FC236}">
                <a16:creationId xmlns:a16="http://schemas.microsoft.com/office/drawing/2014/main" id="{86CFCFDD-41F9-4C87-85FA-BA7BA3BB494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평가는 ‘잘 만든 답변’보다 검증 가능한 업무 산출물을 본다</a:t>
            </a:r>
            <a:endParaRPr/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46D5FF29-631B-485B-BA30-43FA207103DC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Capstone 70%와 과정 실습 30%를 동일한 Rubric으로 연결한다</a:t>
            </a:r>
            <a:endParaRPr/>
          </a:p>
        </p:txBody>
      </p:sp>
      <p:sp>
        <p:nvSpPr>
          <p:cNvPr id="8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E35685B-C3F4-4BD5-A03D-259CC5E05015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수료 기준  |  총점 70점 이상 + 보안 항목 필수 통과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75D3891F-4AFD-46E0-BF0D-A8A60C14F569}"/>
              </a:ext>
            </a:extLst>
          </p:cNvPr>
          <p:cNvSpPr>
            <a:spLocks xmlns:a="http://schemas.openxmlformats.org/drawingml/2006/main" noGrp="1"/>
          </p:cNvSpPr>
          <p:nvPr>
            <p:ph type="body" idx="37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2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AI Workflow 평가 Rubric</a:t>
            </a:r>
            <a:endParaRPr/>
          </a:p>
        </p:txBody>
      </p:sp>
      <p:graphicFrame>
        <p:nvGraphicFramePr>
          <p:cNvPr id="30" name="표 35"/>
          <p:cNvGraphicFramePr/>
          <p:nvPr/>
        </p:nvGraphicFramePr>
        <p:xfrm>
          <a:off xmlns:a="http://schemas.openxmlformats.org/drawingml/2006/main" x="353247" y="2211973"/>
          <a:ext xmlns:a="http://schemas.openxmlformats.org/drawingml/2006/main" cx="4934463" cy="2451140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43240"/>
                <a:gridCol w="3691223"/>
              </a:tblGrid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  <a:tr h="612785"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</a:pPr>
                      <a:endParaRPr sz="1100" b="0" kern="1200">
                        <a:solidFill>
                          <a:schemeClr val="tx1"/>
                        </a:solidFill>
                        <a:latin typeface="+mn-lt"/>
                        <a:ea typeface="+mn-lt"/>
                        <a:cs typeface="+mn-lt"/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4724D2BE-C9F7-4E50-A42D-A2331EC9D5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2224178"/>
            <a:ext cx="3422602" cy="61655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20점  |  목표·맥락·제약·완료 기준</a:t>
            </a:r>
          </a:p>
        </p:txBody>
      </p:sp>
      <p:sp>
        <p:nvSpPr>
          <p:cNvPr id="17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111E32AA-6DCF-453B-8AA7-B10E0616E6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2840734"/>
            <a:ext cx="3434203" cy="60956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25점  |  출처 연결·사실 일치·불확실성</a:t>
            </a:r>
          </a:p>
        </p:txBody>
      </p:sp>
      <p:sp>
        <p:nvSpPr>
          <p:cNvPr id="18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F0004645-F7B4-480D-8F6B-A4FAABD09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3457289"/>
            <a:ext cx="3422602" cy="61987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20점  |  독자 적합성·재사용성·실행 가능성</a:t>
            </a:r>
          </a:p>
        </p:txBody>
      </p:sp>
      <p:sp>
        <p:nvSpPr>
          <p:cNvPr id="19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BEBEEFEB-FACB-4D86-8B06-4B22E43701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07735" y="4066222"/>
            <a:ext cx="3422602" cy="61608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35점  |  반증/누락 점검 20 + 데이터 경계 15</a:t>
            </a:r>
          </a:p>
        </p:txBody>
      </p:sp>
      <p:sp>
        <p:nvSpPr>
          <p:cNvPr id="20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21FFC03-7700-4720-9529-982C85DEC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9" y="2247797"/>
            <a:ext cx="1177839" cy="55919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60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과업설계</a:t>
            </a:r>
          </a:p>
        </p:txBody>
      </p:sp>
      <p:sp>
        <p:nvSpPr>
          <p:cNvPr id="21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72427F5-6C95-4579-9C2B-F64A7A468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49" y="2852211"/>
            <a:ext cx="1177839" cy="5708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근거·정확성</a:t>
            </a:r>
            <a:endParaRPr/>
          </a:p>
        </p:txBody>
      </p:sp>
      <p:sp>
        <p:nvSpPr>
          <p:cNvPr id="2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643B192F-8FC5-4C6A-816A-AEEBE879B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0" y="3461089"/>
            <a:ext cx="1177839" cy="60513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활용성</a:t>
            </a:r>
            <a:endParaRPr/>
          </a:p>
        </p:txBody>
      </p:sp>
      <p:sp>
        <p:nvSpPr>
          <p:cNvPr id="2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40533861-458C-41FA-9DF0-18063402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450" y="4077167"/>
            <a:ext cx="1177839" cy="5981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050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검증·보안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882735992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제목 1">
            <a:extLst xmlns:a="http://schemas.openxmlformats.org/drawingml/2006/main">
              <a:ext uri="{FF2B5EF4-FFF2-40B4-BE49-F238E27FC236}">
                <a16:creationId xmlns:a16="http://schemas.microsoft.com/office/drawing/2014/main" id="{CC175C12-AFF3-49FE-A280-9F27E427D8BC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>
            <a:normAutofit fontScale="95734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8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보안은 마지막 경고가 아니라 수업의 운영 규칙이다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94357B9-DA13-4998-9A68-5B3CCEDB90AD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4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외부 AI와 사내 AI의 데이터 경계를 과제·실습·평가에 동일하게 적용한다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A53AA53A-0887-495F-AA19-9A348AD13B9B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Principle  |  최소정보 · 목적제한 · 사람검토 · 기록가능성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47F13260-2199-4296-A764-671D9AF03634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graphicFrame>
        <p:nvGraphicFramePr>
          <p:cNvPr id="62" name="표 18"/>
          <p:cNvGraphicFramePr/>
          <p:nvPr/>
        </p:nvGraphicFramePr>
        <p:xfrm>
          <a:off xmlns:a="http://schemas.openxmlformats.org/drawingml/2006/main" x="366590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63" name="표 19"/>
          <p:cNvGraphicFramePr/>
          <p:nvPr/>
        </p:nvGraphicFramePr>
        <p:xfrm>
          <a:off xmlns:a="http://schemas.openxmlformats.org/drawingml/2006/main" x="4660851" y="1762122"/>
          <a:ext xmlns:a="http://schemas.openxmlformats.org/drawingml/2006/main" cx="4121707" cy="2936997"/>
        </p:xfrm>
        <a:graphic xmlns:a="http://schemas.openxmlformats.org/drawingml/2006/main"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21707"/>
              </a:tblGrid>
              <a:tr h="32524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endParaRPr sz="12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34290" marB="34290" anchor="ctr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solidFill>
                      <a:srgbClr val="EBF0FF"/>
                    </a:solidFill>
                  </a:tcPr>
                </a:tc>
              </a:tr>
              <a:tr h="2611755">
                <a:tc>
                  <a:txBody>
                    <a:bodyPr/>
                    <a:lstStyle/>
                    <a:p>
                      <a:pPr algn="l">
                        <a:lnSpc>
                          <a:spcPct val="150000"/>
                        </a:lnSpc>
                        <a:buNone/>
                      </a:pPr>
                      <a:endParaRPr sz="1000" b="0">
                        <a:solidFill>
                          <a:schemeClr val="tx1"/>
                        </a:solidFill>
                      </a:endParaRPr>
                    </a:p>
                  </a:txBody>
                  <a:tcPr marL="68580" marR="68580" marT="81000" marB="34290">
                    <a:lnL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L>
                    <a:lnR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R>
                    <a:lnT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T>
                    <a:lnB w="9525" cmpd="sng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4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6DECE75F-701B-4DEB-8784-10D263A4A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공개 자료·교육용 가상 데이터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개인·고객·공정 기밀이 없는 내용</a:t>
            </a:r>
            <a:endParaRPr/>
          </a:p>
        </p:txBody>
      </p:sp>
      <p:sp>
        <p:nvSpPr>
          <p:cNvPr id="35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1855861F-AD30-45E4-BD10-4D3E05497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3164" y="1754781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외부 AI  |  허용</a:t>
            </a:r>
            <a:endParaRPr/>
          </a:p>
        </p:txBody>
      </p:sp>
      <p:sp>
        <p:nvSpPr>
          <p:cNvPr id="36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1611A1AF-8642-462D-AD22-15A1F23E0D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686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필수 통제</a:t>
            </a:r>
            <a:endParaRPr/>
          </a:p>
        </p:txBody>
      </p:sp>
      <p:sp>
        <p:nvSpPr>
          <p:cNvPr id="37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EF0E9A09-89F1-44B8-B449-5C3743D2B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2738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식별정보 제거·링크/출처 확인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결과를 그대로 의사결정에 사용 금지</a:t>
            </a:r>
            <a:endParaRPr/>
          </a:p>
        </p:txBody>
      </p:sp>
      <p:sp>
        <p:nvSpPr>
          <p:cNvPr id="38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C03E3C0D-B56D-4AAE-90BD-C20C466DC7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2098406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적용 대상</a:t>
            </a:r>
            <a:endParaRPr/>
          </a:p>
        </p:txBody>
      </p:sp>
      <p:sp>
        <p:nvSpPr>
          <p:cNvPr id="39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5DC4544C-211C-4377-8930-4F2B741DE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2507213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내부 문서·업무 데이터·보안 등급 자료는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DS Assistant와 사내 정책 사용</a:t>
            </a:r>
            <a:endParaRPr/>
          </a:p>
        </p:txBody>
      </p:sp>
      <p:sp>
        <p:nvSpPr>
          <p:cNvPr id="40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FEB0A7B9-5140-4615-9F24-021137882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5021" y="3383387"/>
            <a:ext cx="3915760" cy="3308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2) 운영 체계</a:t>
            </a:r>
            <a:endParaRPr/>
          </a:p>
        </p:txBody>
      </p:sp>
      <p:sp>
        <p:nvSpPr>
          <p:cNvPr id="41" name="텍스트 개체 틀 7">
            <a:extLst xmlns:a="http://schemas.openxmlformats.org/drawingml/2006/main">
              <a:ext uri="{FF2B5EF4-FFF2-40B4-BE49-F238E27FC236}">
                <a16:creationId xmlns:a16="http://schemas.microsoft.com/office/drawing/2014/main" id="{150A48BB-E3BF-456B-9684-A3FFC67F2E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97072" y="3752304"/>
            <a:ext cx="3783708" cy="84116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ￚ"/>
              <a:defRPr sz="9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사전 안내 → 실습 점검 → Rubric 반영</a:t>
            </a:r>
          </a:p>
          <a:p xmlns:a="http://schemas.openxmlformats.org/drawingml/2006/main">
            <a:pPr>
              <a:def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위반 시 산출물 재작성</a:t>
            </a:r>
            <a:endParaRPr/>
          </a:p>
        </p:txBody>
      </p:sp>
      <p:sp>
        <p:nvSpPr>
          <p:cNvPr id="52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0135E2A-37B5-4C55-BE85-81184A368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69014" y="1762122"/>
            <a:ext cx="4123199" cy="33628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0" indent="-180000" algn="ctr" defTabSz="685800">
              <a:lnSpc>
                <a:spcPct val="120000"/>
              </a:lnSpc>
              <a:spcBef>
                <a:spcPts val="750"/>
              </a:spcBef>
              <a:buFont typeface="Arial"/>
              <a:buNone/>
              <a:defRPr sz="1200" b="1" kern="1200" baseline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 algn="ctr"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사내 AI  |  필수</a:t>
            </a:r>
            <a:endParaRPr/>
          </a:p>
        </p:txBody>
      </p:sp>
      <p:sp>
        <p:nvSpPr>
          <p:cNvPr id="5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E910E3AC-D9FB-45A6-B673-9AA755615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22" y="2136463"/>
            <a:ext cx="3915760" cy="3707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>
            <a:lvl1pPr marL="214313" indent="-180000" algn="l" defTabSz="685800">
              <a:lnSpc>
                <a:spcPct val="120000"/>
              </a:lnSpc>
              <a:spcBef>
                <a:spcPts val="750"/>
              </a:spcBef>
              <a:buFont typeface="맑은 고딕"/>
              <a:buChar char="ᆞ"/>
              <a:defRPr sz="1100" b="1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1pPr>
            <a:lvl2pPr marL="5143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2pPr>
            <a:lvl3pPr marL="8572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50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3pPr>
            <a:lvl4pPr marL="12001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4pPr>
            <a:lvl5pPr marL="15430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5pPr>
            <a:lvl6pPr marL="18859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6pPr>
            <a:lvl7pPr marL="22288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7pPr>
            <a:lvl8pPr marL="25717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8pPr>
            <a:lvl9pPr marL="2914650" indent="-171450" algn="l" defTabSz="685800">
              <a:lnSpc>
                <a:spcPct val="90000"/>
              </a:lnSpc>
              <a:spcBef>
                <a:spcPts val="375"/>
              </a:spcBef>
              <a:buFont typeface="Arial"/>
              <a:buChar char="•"/>
              <a:defRPr sz="1350" kern="1200">
                <a:solidFill>
                  <a:schemeClr val="tx1"/>
                </a:solidFill>
                <a:latin typeface="+mn-lt"/>
                <a:ea typeface="+mn-lt"/>
                <a:cs typeface="+mn-lt"/>
              </a:defRPr>
            </a:lvl9pPr>
          </a:lstStyle>
          <a:p xmlns:a="http://schemas.openxmlformats.org/drawingml/2006/main">
            <a:pPr>
              <a:def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97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1) 입력 가능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26325325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텍스트 개체 틀 1">
            <a:extLst xmlns:a="http://schemas.openxmlformats.org/drawingml/2006/main">
              <a:ext uri="{FF2B5EF4-FFF2-40B4-BE49-F238E27FC236}">
                <a16:creationId xmlns:a16="http://schemas.microsoft.com/office/drawing/2014/main" id="{A89833CD-3D95-455B-BD58-25001AC625D8}"/>
              </a:ext>
            </a:extLst>
          </p:cNvPr>
          <p:cNvSpPr>
            <a:spLocks xmlns:a="http://schemas.openxmlformats.org/drawingml/2006/main" noGrp="1"/>
          </p:cNvSpPr>
          <p:nvPr>
            <p:ph type="body" idx="10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권고  |  8시간 AI Essential을 전 직원 공통 실습 과정으로 운영</a:t>
            </a:r>
            <a:endParaRPr/>
          </a:p>
        </p:txBody>
      </p:sp>
      <p:sp>
        <p:nvSpPr>
          <p:cNvPr id="3" name="텍스트 개체 틀 2">
            <a:extLst xmlns:a="http://schemas.openxmlformats.org/drawingml/2006/main">
              <a:ext uri="{FF2B5EF4-FFF2-40B4-BE49-F238E27FC236}">
                <a16:creationId xmlns:a16="http://schemas.microsoft.com/office/drawing/2014/main" id="{C4DA2AFC-F8C1-4036-83F8-B77D9BB26914}"/>
              </a:ext>
            </a:extLst>
          </p:cNvPr>
          <p:cNvSpPr>
            <a:spLocks xmlns:a="http://schemas.openxmlformats.org/drawingml/2006/main" noGrp="1"/>
          </p:cNvSpPr>
          <p:nvPr>
            <p:ph type="body" idx="11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차별점  |  Context → Grounding → Creation → Verification의 일관된 Workflow</a:t>
            </a:r>
            <a:endParaRPr/>
          </a:p>
        </p:txBody>
      </p:sp>
      <p:sp>
        <p:nvSpPr>
          <p:cNvPr id="4" name="텍스트 개체 틀 3">
            <a:extLst xmlns:a="http://schemas.openxmlformats.org/drawingml/2006/main">
              <a:ext uri="{FF2B5EF4-FFF2-40B4-BE49-F238E27FC236}">
                <a16:creationId xmlns:a16="http://schemas.microsoft.com/office/drawing/2014/main" id="{3838A8A5-B6DE-403F-8FE2-C6E05D9FBCFE}"/>
              </a:ext>
            </a:extLst>
          </p:cNvPr>
          <p:cNvSpPr>
            <a:spLocks xmlns:a="http://schemas.openxmlformats.org/drawingml/2006/main" noGrp="1"/>
          </p:cNvSpPr>
          <p:nvPr>
            <p:ph type="body" idx="1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FF"/>
                </a:solidFill>
                <a:latin typeface="맑은 고딕"/>
                <a:ea typeface="맑은 고딕"/>
                <a:cs typeface="맑은 고딕"/>
              </a:rPr>
              <a:t>기대효과  |  다음 날 바로 적용 가능한 산출물과 재사용 템플릿 확보</a:t>
            </a:r>
            <a:endParaRPr/>
          </a:p>
        </p:txBody>
      </p:sp>
      <p:sp>
        <p:nvSpPr>
          <p:cNvPr id="5" name="텍스트 개체 틀 4">
            <a:extLst xmlns:a="http://schemas.openxmlformats.org/drawingml/2006/main">
              <a:ext uri="{FF2B5EF4-FFF2-40B4-BE49-F238E27FC236}">
                <a16:creationId xmlns:a16="http://schemas.microsoft.com/office/drawing/2014/main" id="{B6629291-66BB-4857-AB7E-FF1AD8B53030}"/>
              </a:ext>
            </a:extLst>
          </p:cNvPr>
          <p:cNvSpPr>
            <a:spLocks xmlns:a="http://schemas.openxmlformats.org/drawingml/2006/main" noGrp="1"/>
          </p:cNvSpPr>
          <p:nvPr>
            <p:ph type="body" idx="1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운영 조건</a:t>
            </a:r>
            <a:endParaRPr/>
          </a:p>
        </p:txBody>
      </p:sp>
      <p:sp>
        <p:nvSpPr>
          <p:cNvPr id="6" name="텍스트 개체 틀 5">
            <a:extLst xmlns:a="http://schemas.openxmlformats.org/drawingml/2006/main">
              <a:ext uri="{FF2B5EF4-FFF2-40B4-BE49-F238E27FC236}">
                <a16:creationId xmlns:a16="http://schemas.microsoft.com/office/drawing/2014/main" id="{036A56C3-7FC0-4421-AA2B-EF28E34B23F7}"/>
              </a:ext>
            </a:extLst>
          </p:cNvPr>
          <p:cNvSpPr>
            <a:spLocks xmlns:a="http://schemas.openxmlformats.org/drawingml/2006/main" noGrp="1"/>
          </p:cNvSpPr>
          <p:nvPr>
            <p:ph type="body" idx="29"/>
          </p:nvPr>
        </p:nvSpPr>
        <p:spPr/>
        <p:txBody>
          <a:bodyPr xmlns:a="http://schemas.openxmlformats.org/drawingml/2006/main">
            <a:normAutofit fontScale="72994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공개·교육용 데이터셋과 직무별 사례를 사전 준비</a:t>
            </a:r>
            <a:endParaRPr/>
          </a:p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강사 1명 + 실습 지원 1명, 20명 내외 권장</a:t>
            </a:r>
            <a:endParaRPr/>
          </a:p>
        </p:txBody>
      </p:sp>
      <p:sp>
        <p:nvSpPr>
          <p:cNvPr id="7" name="텍스트 개체 틀 6">
            <a:extLst xmlns:a="http://schemas.openxmlformats.org/drawingml/2006/main">
              <a:ext uri="{FF2B5EF4-FFF2-40B4-BE49-F238E27FC236}">
                <a16:creationId xmlns:a16="http://schemas.microsoft.com/office/drawing/2014/main" id="{2DFEA238-FF8E-4284-976B-612345734368}"/>
              </a:ext>
            </a:extLst>
          </p:cNvPr>
          <p:cNvSpPr>
            <a:spLocks xmlns:a="http://schemas.openxmlformats.org/drawingml/2006/main" noGrp="1"/>
          </p:cNvSpPr>
          <p:nvPr>
            <p:ph type="body" idx="32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1429A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1429A0"/>
                </a:solidFill>
                <a:latin typeface="맑은 고딕"/>
                <a:ea typeface="맑은 고딕"/>
                <a:cs typeface="맑은 고딕"/>
              </a:rPr>
              <a:t>다음 단계  |  대상 조직 확정 → 사례 수집 → 1회 Pilot → Rubric 보정</a:t>
            </a:r>
            <a:endParaRPr/>
          </a:p>
        </p:txBody>
      </p:sp>
      <p:sp>
        <p:nvSpPr>
          <p:cNvPr id="9" name="텍스트 개체 틀 8">
            <a:extLst xmlns:a="http://schemas.openxmlformats.org/drawingml/2006/main">
              <a:ext uri="{FF2B5EF4-FFF2-40B4-BE49-F238E27FC236}">
                <a16:creationId xmlns:a16="http://schemas.microsoft.com/office/drawing/2014/main" id="{0E39594C-11E6-467A-9E5E-10B088F8CB3B}"/>
              </a:ext>
            </a:extLst>
          </p:cNvPr>
          <p:cNvSpPr>
            <a:spLocks xmlns:a="http://schemas.openxmlformats.org/drawingml/2006/main" noGrp="1"/>
          </p:cNvSpPr>
          <p:nvPr>
            <p:ph type="body" idx="33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def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defRPr>
            </a:pPr>
            <a:r>
              <a:rPr sz="900">
                <a:solidFill>
                  <a:srgbClr val="898989"/>
                </a:solidFill>
                <a:latin typeface="맑은 고딕"/>
                <a:ea typeface="맑은 고딕"/>
                <a:cs typeface="맑은 고딕"/>
              </a:rPr>
              <a:t>AI 교육 세미나 / AI Essential 2026</a:t>
            </a:r>
            <a:endParaRPr/>
          </a:p>
        </p:txBody>
      </p:sp>
      <p:sp>
        <p:nvSpPr>
          <p:cNvPr id="10" name="텍스트 개체 틀 9">
            <a:extLst xmlns:a="http://schemas.openxmlformats.org/drawingml/2006/main">
              <a:ext uri="{FF2B5EF4-FFF2-40B4-BE49-F238E27FC236}">
                <a16:creationId xmlns:a16="http://schemas.microsoft.com/office/drawing/2014/main" id="{45C0603A-6844-456A-AD64-85609C6F333A}"/>
              </a:ext>
            </a:extLst>
          </p:cNvPr>
          <p:cNvSpPr>
            <a:spLocks xmlns:a="http://schemas.openxmlformats.org/drawingml/2006/main" noGrp="1"/>
          </p:cNvSpPr>
          <p:nvPr>
            <p:ph type="body" idx="34"/>
          </p:nvPr>
        </p:nvSpPr>
        <p:spPr/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 b="1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성공 지표</a:t>
            </a:r>
            <a:endParaRPr/>
          </a:p>
        </p:txBody>
      </p:sp>
      <p:sp>
        <p:nvSpPr>
          <p:cNvPr id="19" name="텍스트 개체 틀 18">
            <a:extLst xmlns:a="http://schemas.openxmlformats.org/drawingml/2006/main">
              <a:ext uri="{FF2B5EF4-FFF2-40B4-BE49-F238E27FC236}">
                <a16:creationId xmlns:a16="http://schemas.microsoft.com/office/drawing/2014/main" id="{A34DE5EA-7966-41EB-B09E-3A9EF63E0F97}"/>
              </a:ext>
            </a:extLst>
          </p:cNvPr>
          <p:cNvSpPr>
            <a:spLocks xmlns:a="http://schemas.openxmlformats.org/drawingml/2006/main" noGrp="1"/>
          </p:cNvSpPr>
          <p:nvPr>
            <p:ph type="body" idx="35"/>
          </p:nvPr>
        </p:nvSpPr>
        <p:spPr/>
        <p:txBody>
          <a:bodyPr xmlns:a="http://schemas.openxmlformats.org/drawingml/2006/main">
            <a:normAutofit fontScale="72994"/>
          </a:bodyPr>
          <a:lstStyle xmlns:a="http://schemas.openxmlformats.org/drawingml/2006/main"/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□ 수료율 · Capstone 품질 · 30일 내 현업 재사용률</a:t>
            </a:r>
            <a:endParaRPr/>
          </a:p>
          <a:p xmlns:a="http://schemas.openxmlformats.org/drawingml/2006/main">
            <a:pPr>
              <a:def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defRPr>
            </a:pPr>
            <a:r>
              <a:rPr sz="1125">
                <a:solidFill>
                  <a:srgbClr val="000000"/>
                </a:solidFill>
                <a:latin typeface="맑은 고딕"/>
                <a:ea typeface="맑은 고딕"/>
                <a:cs typeface="맑은 고딕"/>
              </a:rPr>
              <a:t>- 도구 사용량이 아니라 업무 전환과 검증 품질을 추적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3982240960"/>
      </p:ext>
    </p:extLst>
  </p:cSld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2026-08-19T08:10:36.9490000Z</dcterms:created>
  <dcterms:modified xsi:type="dcterms:W3CDTF">2026-08-19T08:10:36.9490000Z</dcterms:modified>
</coreProperties>
</file>